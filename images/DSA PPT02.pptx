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2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3" r:id="rId13"/>
    <p:sldId id="274" r:id="rId14"/>
    <p:sldId id="275" r:id="rId15"/>
    <p:sldId id="276" r:id="rId16"/>
    <p:sldId id="277" r:id="rId17"/>
    <p:sldId id="281" r:id="rId18"/>
  </p:sldIdLst>
  <p:sldSz cx="19507200" cy="10972800"/>
  <p:notesSz cx="19507200" cy="10972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7652CA-EC29-4FF4-9C70-A306F7326209}" v="3" dt="2025-12-03T19:08:13.1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859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tam Ali" userId="64a186e0346f312b" providerId="LiveId" clId="{A8B603B7-CB9B-472B-84F2-B99027E1F12D}"/>
    <pc:docChg chg="undo custSel addSld delSld modSld sldOrd">
      <pc:chgData name="Rustam Ali" userId="64a186e0346f312b" providerId="LiveId" clId="{A8B603B7-CB9B-472B-84F2-B99027E1F12D}" dt="2025-12-03T19:09:27.101" v="332" actId="47"/>
      <pc:docMkLst>
        <pc:docMk/>
      </pc:docMkLst>
      <pc:sldChg chg="addSp delSp modSp mod">
        <pc:chgData name="Rustam Ali" userId="64a186e0346f312b" providerId="LiveId" clId="{A8B603B7-CB9B-472B-84F2-B99027E1F12D}" dt="2025-11-28T05:59:26.968" v="215" actId="20577"/>
        <pc:sldMkLst>
          <pc:docMk/>
          <pc:sldMk cId="0" sldId="256"/>
        </pc:sldMkLst>
        <pc:spChg chg="mod">
          <ac:chgData name="Rustam Ali" userId="64a186e0346f312b" providerId="LiveId" clId="{A8B603B7-CB9B-472B-84F2-B99027E1F12D}" dt="2025-11-24T12:52:12.370" v="208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ustam Ali" userId="64a186e0346f312b" providerId="LiveId" clId="{A8B603B7-CB9B-472B-84F2-B99027E1F12D}" dt="2025-11-24T12:38:45.841" v="5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ustam Ali" userId="64a186e0346f312b" providerId="LiveId" clId="{A8B603B7-CB9B-472B-84F2-B99027E1F12D}" dt="2025-11-28T05:59:26.968" v="215" actId="20577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Rustam Ali" userId="64a186e0346f312b" providerId="LiveId" clId="{A8B603B7-CB9B-472B-84F2-B99027E1F12D}" dt="2025-11-24T12:53:23.955" v="211" actId="255"/>
          <ac:spMkLst>
            <pc:docMk/>
            <pc:sldMk cId="0" sldId="256"/>
            <ac:spMk id="15" creationId="{30D17640-AF3F-28A0-3749-4930E88A7BE6}"/>
          </ac:spMkLst>
        </pc:spChg>
        <pc:picChg chg="add del">
          <ac:chgData name="Rustam Ali" userId="64a186e0346f312b" providerId="LiveId" clId="{A8B603B7-CB9B-472B-84F2-B99027E1F12D}" dt="2025-11-24T12:35:47.111" v="5" actId="478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Rustam Ali" userId="64a186e0346f312b" providerId="LiveId" clId="{A8B603B7-CB9B-472B-84F2-B99027E1F12D}" dt="2025-11-24T12:38:57.872" v="51" actId="14100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Rustam Ali" userId="64a186e0346f312b" providerId="LiveId" clId="{A8B603B7-CB9B-472B-84F2-B99027E1F12D}" dt="2025-11-24T12:40:23.439" v="59" actId="1076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Rustam Ali" userId="64a186e0346f312b" providerId="LiveId" clId="{A8B603B7-CB9B-472B-84F2-B99027E1F12D}" dt="2025-11-24T12:41:46.431" v="67" actId="14100"/>
          <ac:picMkLst>
            <pc:docMk/>
            <pc:sldMk cId="0" sldId="256"/>
            <ac:picMk id="8" creationId="{00000000-0000-0000-0000-000000000000}"/>
          </ac:picMkLst>
        </pc:picChg>
        <pc:picChg chg="add mod">
          <ac:chgData name="Rustam Ali" userId="64a186e0346f312b" providerId="LiveId" clId="{A8B603B7-CB9B-472B-84F2-B99027E1F12D}" dt="2025-11-24T12:47:52.541" v="79" actId="1076"/>
          <ac:picMkLst>
            <pc:docMk/>
            <pc:sldMk cId="0" sldId="256"/>
            <ac:picMk id="14" creationId="{91FB2BA3-6B11-71E7-FBB6-07A576601A12}"/>
          </ac:picMkLst>
        </pc:picChg>
      </pc:sldChg>
      <pc:sldChg chg="addSp delSp modSp mod">
        <pc:chgData name="Rustam Ali" userId="64a186e0346f312b" providerId="LiveId" clId="{A8B603B7-CB9B-472B-84F2-B99027E1F12D}" dt="2025-11-28T06:01:21.860" v="234" actId="113"/>
        <pc:sldMkLst>
          <pc:docMk/>
          <pc:sldMk cId="0" sldId="262"/>
        </pc:sldMkLst>
        <pc:spChg chg="mod">
          <ac:chgData name="Rustam Ali" userId="64a186e0346f312b" providerId="LiveId" clId="{A8B603B7-CB9B-472B-84F2-B99027E1F12D}" dt="2025-11-28T06:00:13.835" v="217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ustam Ali" userId="64a186e0346f312b" providerId="LiveId" clId="{A8B603B7-CB9B-472B-84F2-B99027E1F12D}" dt="2025-11-28T06:00:13.835" v="217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ustam Ali" userId="64a186e0346f312b" providerId="LiveId" clId="{A8B603B7-CB9B-472B-84F2-B99027E1F12D}" dt="2025-11-28T06:00:13.835" v="217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Rustam Ali" userId="64a186e0346f312b" providerId="LiveId" clId="{A8B603B7-CB9B-472B-84F2-B99027E1F12D}" dt="2025-11-28T06:00:13.835" v="217" actId="1076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Rustam Ali" userId="64a186e0346f312b" providerId="LiveId" clId="{A8B603B7-CB9B-472B-84F2-B99027E1F12D}" dt="2025-11-28T06:01:21.860" v="234" actId="113"/>
          <ac:spMkLst>
            <pc:docMk/>
            <pc:sldMk cId="0" sldId="262"/>
            <ac:spMk id="7" creationId="{1F132A1E-BAE8-96B4-9814-EB713A38B81B}"/>
          </ac:spMkLst>
        </pc:spChg>
      </pc:sldChg>
      <pc:sldChg chg="del">
        <pc:chgData name="Rustam Ali" userId="64a186e0346f312b" providerId="LiveId" clId="{A8B603B7-CB9B-472B-84F2-B99027E1F12D}" dt="2025-12-03T19:06:20.949" v="320" actId="47"/>
        <pc:sldMkLst>
          <pc:docMk/>
          <pc:sldMk cId="0" sldId="263"/>
        </pc:sldMkLst>
      </pc:sldChg>
      <pc:sldChg chg="del">
        <pc:chgData name="Rustam Ali" userId="64a186e0346f312b" providerId="LiveId" clId="{A8B603B7-CB9B-472B-84F2-B99027E1F12D}" dt="2025-12-03T19:05:56.836" v="318" actId="47"/>
        <pc:sldMkLst>
          <pc:docMk/>
          <pc:sldMk cId="0" sldId="268"/>
        </pc:sldMkLst>
      </pc:sldChg>
      <pc:sldChg chg="del">
        <pc:chgData name="Rustam Ali" userId="64a186e0346f312b" providerId="LiveId" clId="{A8B603B7-CB9B-472B-84F2-B99027E1F12D}" dt="2025-12-03T19:06:01.491" v="319" actId="47"/>
        <pc:sldMkLst>
          <pc:docMk/>
          <pc:sldMk cId="0" sldId="269"/>
        </pc:sldMkLst>
      </pc:sldChg>
      <pc:sldChg chg="del">
        <pc:chgData name="Rustam Ali" userId="64a186e0346f312b" providerId="LiveId" clId="{A8B603B7-CB9B-472B-84F2-B99027E1F12D}" dt="2025-12-03T19:05:37.584" v="317" actId="47"/>
        <pc:sldMkLst>
          <pc:docMk/>
          <pc:sldMk cId="0" sldId="270"/>
        </pc:sldMkLst>
      </pc:sldChg>
      <pc:sldChg chg="del">
        <pc:chgData name="Rustam Ali" userId="64a186e0346f312b" providerId="LiveId" clId="{A8B603B7-CB9B-472B-84F2-B99027E1F12D}" dt="2025-12-03T19:09:27.101" v="332" actId="47"/>
        <pc:sldMkLst>
          <pc:docMk/>
          <pc:sldMk cId="0" sldId="271"/>
        </pc:sldMkLst>
      </pc:sldChg>
      <pc:sldChg chg="modSp del mod">
        <pc:chgData name="Rustam Ali" userId="64a186e0346f312b" providerId="LiveId" clId="{A8B603B7-CB9B-472B-84F2-B99027E1F12D}" dt="2025-12-03T19:09:23.958" v="331" actId="47"/>
        <pc:sldMkLst>
          <pc:docMk/>
          <pc:sldMk cId="0" sldId="272"/>
        </pc:sldMkLst>
        <pc:picChg chg="mod">
          <ac:chgData name="Rustam Ali" userId="64a186e0346f312b" providerId="LiveId" clId="{A8B603B7-CB9B-472B-84F2-B99027E1F12D}" dt="2025-12-03T19:05:27.699" v="316" actId="1076"/>
          <ac:picMkLst>
            <pc:docMk/>
            <pc:sldMk cId="0" sldId="272"/>
            <ac:picMk id="8" creationId="{00000000-0000-0000-0000-000000000000}"/>
          </ac:picMkLst>
        </pc:picChg>
        <pc:picChg chg="mod">
          <ac:chgData name="Rustam Ali" userId="64a186e0346f312b" providerId="LiveId" clId="{A8B603B7-CB9B-472B-84F2-B99027E1F12D}" dt="2025-12-03T19:05:17.437" v="315" actId="1076"/>
          <ac:picMkLst>
            <pc:docMk/>
            <pc:sldMk cId="0" sldId="272"/>
            <ac:picMk id="9" creationId="{00000000-0000-0000-0000-000000000000}"/>
          </ac:picMkLst>
        </pc:picChg>
      </pc:sldChg>
      <pc:sldChg chg="delSp modSp mod">
        <pc:chgData name="Rustam Ali" userId="64a186e0346f312b" providerId="LiveId" clId="{A8B603B7-CB9B-472B-84F2-B99027E1F12D}" dt="2025-12-03T19:04:46.899" v="314" actId="478"/>
        <pc:sldMkLst>
          <pc:docMk/>
          <pc:sldMk cId="0" sldId="273"/>
        </pc:sldMkLst>
        <pc:spChg chg="del mod">
          <ac:chgData name="Rustam Ali" userId="64a186e0346f312b" providerId="LiveId" clId="{A8B603B7-CB9B-472B-84F2-B99027E1F12D}" dt="2025-12-03T19:04:15.509" v="299" actId="478"/>
          <ac:spMkLst>
            <pc:docMk/>
            <pc:sldMk cId="0" sldId="273"/>
            <ac:spMk id="8" creationId="{00000000-0000-0000-0000-000000000000}"/>
          </ac:spMkLst>
        </pc:spChg>
        <pc:spChg chg="del mod">
          <ac:chgData name="Rustam Ali" userId="64a186e0346f312b" providerId="LiveId" clId="{A8B603B7-CB9B-472B-84F2-B99027E1F12D}" dt="2025-12-03T19:04:46.899" v="314" actId="478"/>
          <ac:spMkLst>
            <pc:docMk/>
            <pc:sldMk cId="0" sldId="273"/>
            <ac:spMk id="9" creationId="{00000000-0000-0000-0000-000000000000}"/>
          </ac:spMkLst>
        </pc:spChg>
        <pc:spChg chg="del mod">
          <ac:chgData name="Rustam Ali" userId="64a186e0346f312b" providerId="LiveId" clId="{A8B603B7-CB9B-472B-84F2-B99027E1F12D}" dt="2025-12-03T19:04:36.263" v="311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Rustam Ali" userId="64a186e0346f312b" providerId="LiveId" clId="{A8B603B7-CB9B-472B-84F2-B99027E1F12D}" dt="2025-12-03T19:04:40.901" v="312" actId="478"/>
          <ac:spMkLst>
            <pc:docMk/>
            <pc:sldMk cId="0" sldId="273"/>
            <ac:spMk id="11" creationId="{00000000-0000-0000-0000-000000000000}"/>
          </ac:spMkLst>
        </pc:spChg>
        <pc:spChg chg="del mod">
          <ac:chgData name="Rustam Ali" userId="64a186e0346f312b" providerId="LiveId" clId="{A8B603B7-CB9B-472B-84F2-B99027E1F12D}" dt="2025-12-03T19:04:30.784" v="310" actId="478"/>
          <ac:spMkLst>
            <pc:docMk/>
            <pc:sldMk cId="0" sldId="273"/>
            <ac:spMk id="12" creationId="{00000000-0000-0000-0000-000000000000}"/>
          </ac:spMkLst>
        </pc:spChg>
        <pc:spChg chg="del mod">
          <ac:chgData name="Rustam Ali" userId="64a186e0346f312b" providerId="LiveId" clId="{A8B603B7-CB9B-472B-84F2-B99027E1F12D}" dt="2025-12-03T19:04:26.707" v="307" actId="478"/>
          <ac:spMkLst>
            <pc:docMk/>
            <pc:sldMk cId="0" sldId="273"/>
            <ac:spMk id="13" creationId="{00000000-0000-0000-0000-000000000000}"/>
          </ac:spMkLst>
        </pc:spChg>
        <pc:spChg chg="del mod">
          <ac:chgData name="Rustam Ali" userId="64a186e0346f312b" providerId="LiveId" clId="{A8B603B7-CB9B-472B-84F2-B99027E1F12D}" dt="2025-12-03T19:04:20.054" v="301" actId="478"/>
          <ac:spMkLst>
            <pc:docMk/>
            <pc:sldMk cId="0" sldId="273"/>
            <ac:spMk id="14" creationId="{00000000-0000-0000-0000-000000000000}"/>
          </ac:spMkLst>
        </pc:spChg>
        <pc:picChg chg="del">
          <ac:chgData name="Rustam Ali" userId="64a186e0346f312b" providerId="LiveId" clId="{A8B603B7-CB9B-472B-84F2-B99027E1F12D}" dt="2025-12-03T19:03:54.114" v="293" actId="478"/>
          <ac:picMkLst>
            <pc:docMk/>
            <pc:sldMk cId="0" sldId="273"/>
            <ac:picMk id="4" creationId="{00000000-0000-0000-0000-000000000000}"/>
          </ac:picMkLst>
        </pc:picChg>
        <pc:picChg chg="del">
          <ac:chgData name="Rustam Ali" userId="64a186e0346f312b" providerId="LiveId" clId="{A8B603B7-CB9B-472B-84F2-B99027E1F12D}" dt="2025-12-03T19:03:58.104" v="294" actId="478"/>
          <ac:picMkLst>
            <pc:docMk/>
            <pc:sldMk cId="0" sldId="273"/>
            <ac:picMk id="5" creationId="{00000000-0000-0000-0000-000000000000}"/>
          </ac:picMkLst>
        </pc:picChg>
      </pc:sldChg>
      <pc:sldChg chg="addSp delSp modSp mod">
        <pc:chgData name="Rustam Ali" userId="64a186e0346f312b" providerId="LiveId" clId="{A8B603B7-CB9B-472B-84F2-B99027E1F12D}" dt="2025-12-03T19:03:25.455" v="292" actId="208"/>
        <pc:sldMkLst>
          <pc:docMk/>
          <pc:sldMk cId="0" sldId="276"/>
        </pc:sldMkLst>
        <pc:spChg chg="del mod">
          <ac:chgData name="Rustam Ali" userId="64a186e0346f312b" providerId="LiveId" clId="{A8B603B7-CB9B-472B-84F2-B99027E1F12D}" dt="2025-12-03T19:01:54.555" v="262" actId="478"/>
          <ac:spMkLst>
            <pc:docMk/>
            <pc:sldMk cId="0" sldId="276"/>
            <ac:spMk id="4" creationId="{00000000-0000-0000-0000-000000000000}"/>
          </ac:spMkLst>
        </pc:spChg>
        <pc:spChg chg="add del mod">
          <ac:chgData name="Rustam Ali" userId="64a186e0346f312b" providerId="LiveId" clId="{A8B603B7-CB9B-472B-84F2-B99027E1F12D}" dt="2025-12-03T19:02:07.679" v="265" actId="478"/>
          <ac:spMkLst>
            <pc:docMk/>
            <pc:sldMk cId="0" sldId="276"/>
            <ac:spMk id="7" creationId="{85840B96-D882-A57E-1C68-99622575BAD6}"/>
          </ac:spMkLst>
        </pc:spChg>
        <pc:spChg chg="add mod">
          <ac:chgData name="Rustam Ali" userId="64a186e0346f312b" providerId="LiveId" clId="{A8B603B7-CB9B-472B-84F2-B99027E1F12D}" dt="2025-12-03T19:03:25.455" v="292" actId="208"/>
          <ac:spMkLst>
            <pc:docMk/>
            <pc:sldMk cId="0" sldId="276"/>
            <ac:spMk id="8" creationId="{C2CEF647-C6E5-3C8F-B13D-E6D9952BAA9B}"/>
          </ac:spMkLst>
        </pc:spChg>
        <pc:picChg chg="del">
          <ac:chgData name="Rustam Ali" userId="64a186e0346f312b" providerId="LiveId" clId="{A8B603B7-CB9B-472B-84F2-B99027E1F12D}" dt="2025-12-03T19:01:56.842" v="263" actId="478"/>
          <ac:picMkLst>
            <pc:docMk/>
            <pc:sldMk cId="0" sldId="276"/>
            <ac:picMk id="2" creationId="{00000000-0000-0000-0000-000000000000}"/>
          </ac:picMkLst>
        </pc:picChg>
        <pc:picChg chg="del mod">
          <ac:chgData name="Rustam Ali" userId="64a186e0346f312b" providerId="LiveId" clId="{A8B603B7-CB9B-472B-84F2-B99027E1F12D}" dt="2025-12-03T19:01:59.173" v="264" actId="478"/>
          <ac:picMkLst>
            <pc:docMk/>
            <pc:sldMk cId="0" sldId="276"/>
            <ac:picMk id="3" creationId="{00000000-0000-0000-0000-000000000000}"/>
          </ac:picMkLst>
        </pc:picChg>
      </pc:sldChg>
      <pc:sldChg chg="addSp delSp modSp mod">
        <pc:chgData name="Rustam Ali" userId="64a186e0346f312b" providerId="LiveId" clId="{A8B603B7-CB9B-472B-84F2-B99027E1F12D}" dt="2025-12-03T19:01:23.422" v="257" actId="12"/>
        <pc:sldMkLst>
          <pc:docMk/>
          <pc:sldMk cId="0" sldId="277"/>
        </pc:sldMkLst>
        <pc:spChg chg="add mod">
          <ac:chgData name="Rustam Ali" userId="64a186e0346f312b" providerId="LiveId" clId="{A8B603B7-CB9B-472B-84F2-B99027E1F12D}" dt="2025-12-03T19:01:23.422" v="257" actId="12"/>
          <ac:spMkLst>
            <pc:docMk/>
            <pc:sldMk cId="0" sldId="277"/>
            <ac:spMk id="7" creationId="{90DB2ACE-D857-636E-1292-0B19B6AA7484}"/>
          </ac:spMkLst>
        </pc:spChg>
        <pc:grpChg chg="del">
          <ac:chgData name="Rustam Ali" userId="64a186e0346f312b" providerId="LiveId" clId="{A8B603B7-CB9B-472B-84F2-B99027E1F12D}" dt="2025-12-03T19:00:01.411" v="236" actId="478"/>
          <ac:grpSpMkLst>
            <pc:docMk/>
            <pc:sldMk cId="0" sldId="277"/>
            <ac:grpSpMk id="3" creationId="{00000000-0000-0000-0000-000000000000}"/>
          </ac:grpSpMkLst>
        </pc:grpChg>
      </pc:sldChg>
      <pc:sldChg chg="del">
        <pc:chgData name="Rustam Ali" userId="64a186e0346f312b" providerId="LiveId" clId="{A8B603B7-CB9B-472B-84F2-B99027E1F12D}" dt="2025-12-03T19:01:31.004" v="258" actId="47"/>
        <pc:sldMkLst>
          <pc:docMk/>
          <pc:sldMk cId="0" sldId="278"/>
        </pc:sldMkLst>
      </pc:sldChg>
      <pc:sldChg chg="del">
        <pc:chgData name="Rustam Ali" userId="64a186e0346f312b" providerId="LiveId" clId="{A8B603B7-CB9B-472B-84F2-B99027E1F12D}" dt="2025-12-03T19:08:46.698" v="330" actId="47"/>
        <pc:sldMkLst>
          <pc:docMk/>
          <pc:sldMk cId="0" sldId="279"/>
        </pc:sldMkLst>
      </pc:sldChg>
      <pc:sldChg chg="del">
        <pc:chgData name="Rustam Ali" userId="64a186e0346f312b" providerId="LiveId" clId="{A8B603B7-CB9B-472B-84F2-B99027E1F12D}" dt="2025-12-03T18:59:47.492" v="235" actId="47"/>
        <pc:sldMkLst>
          <pc:docMk/>
          <pc:sldMk cId="0" sldId="280"/>
        </pc:sldMkLst>
      </pc:sldChg>
      <pc:sldChg chg="addSp modSp new mod ord">
        <pc:chgData name="Rustam Ali" userId="64a186e0346f312b" providerId="LiveId" clId="{A8B603B7-CB9B-472B-84F2-B99027E1F12D}" dt="2025-12-03T19:08:32.919" v="329" actId="14100"/>
        <pc:sldMkLst>
          <pc:docMk/>
          <pc:sldMk cId="1789233802" sldId="282"/>
        </pc:sldMkLst>
        <pc:picChg chg="add mod">
          <ac:chgData name="Rustam Ali" userId="64a186e0346f312b" providerId="LiveId" clId="{A8B603B7-CB9B-472B-84F2-B99027E1F12D}" dt="2025-12-03T19:08:32.919" v="329" actId="14100"/>
          <ac:picMkLst>
            <pc:docMk/>
            <pc:sldMk cId="1789233802" sldId="282"/>
            <ac:picMk id="3" creationId="{0928C120-7C74-B5C9-E12F-02AF7EA28B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3040" y="3401568"/>
            <a:ext cx="16581120" cy="2304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26080" y="6144768"/>
            <a:ext cx="13655040" cy="274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75360" y="2523744"/>
            <a:ext cx="8485632" cy="724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046208" y="2523744"/>
            <a:ext cx="8485632" cy="724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9906" y="28575"/>
            <a:ext cx="6473825" cy="140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196" y="2141816"/>
            <a:ext cx="18596609" cy="739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32448" y="10204704"/>
            <a:ext cx="6242304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75360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045185" y="10204704"/>
            <a:ext cx="4486656" cy="548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jpg"/><Relationship Id="rId3" Type="http://schemas.openxmlformats.org/officeDocument/2006/relationships/image" Target="../media/image33.png"/><Relationship Id="rId21" Type="http://schemas.openxmlformats.org/officeDocument/2006/relationships/image" Target="../media/image51.jp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jpg"/><Relationship Id="rId25" Type="http://schemas.openxmlformats.org/officeDocument/2006/relationships/image" Target="../media/image55.jpg"/><Relationship Id="rId2" Type="http://schemas.openxmlformats.org/officeDocument/2006/relationships/image" Target="../media/image32.png"/><Relationship Id="rId16" Type="http://schemas.openxmlformats.org/officeDocument/2006/relationships/image" Target="../media/image46.jp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.jp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jpg"/><Relationship Id="rId27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2525" y="9296400"/>
            <a:ext cx="381000" cy="361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9" y="1600200"/>
            <a:ext cx="4181475" cy="1104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7400" y="1600200"/>
            <a:ext cx="923925" cy="857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6095" y="1560786"/>
            <a:ext cx="3286125" cy="1104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01375" y="1600200"/>
            <a:ext cx="6619875" cy="1104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9725" y="152400"/>
            <a:ext cx="6467475" cy="990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44400" y="342900"/>
            <a:ext cx="971550" cy="8001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999903" y="-90487"/>
            <a:ext cx="3991610" cy="2808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6290" algn="ctr">
              <a:lnSpc>
                <a:spcPts val="10850"/>
              </a:lnSpc>
              <a:spcBef>
                <a:spcPts val="100"/>
              </a:spcBef>
            </a:pPr>
            <a:r>
              <a:rPr sz="9500" spc="125" dirty="0"/>
              <a:t>uc</a:t>
            </a:r>
            <a:r>
              <a:rPr sz="9500" spc="805" dirty="0"/>
              <a:t> </a:t>
            </a:r>
            <a:r>
              <a:rPr lang="en-US" sz="9500" spc="110" dirty="0"/>
              <a:t>i</a:t>
            </a:r>
            <a:r>
              <a:rPr sz="9500" spc="110" dirty="0"/>
              <a:t>on</a:t>
            </a:r>
            <a:endParaRPr sz="9500" dirty="0"/>
          </a:p>
          <a:p>
            <a:pPr marL="12700">
              <a:lnSpc>
                <a:spcPts val="10910"/>
              </a:lnSpc>
            </a:pPr>
            <a:r>
              <a:rPr sz="9550" b="1" spc="-605" dirty="0">
                <a:latin typeface="Calibri"/>
                <a:cs typeface="Calibri"/>
              </a:rPr>
              <a:t>es</a:t>
            </a:r>
            <a:r>
              <a:rPr lang="en-US" sz="9550" spc="-605" dirty="0">
                <a:latin typeface="Calibri"/>
                <a:cs typeface="Calibri"/>
              </a:rPr>
              <a:t>i</a:t>
            </a:r>
            <a:endParaRPr sz="95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4752" y="1288415"/>
            <a:ext cx="1622765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50" b="1" spc="-520" dirty="0">
                <a:latin typeface="Calibri"/>
                <a:cs typeface="Calibri"/>
              </a:rPr>
              <a:t>s</a:t>
            </a:r>
            <a:r>
              <a:rPr lang="en-US" sz="9550" b="1" spc="-520" dirty="0">
                <a:latin typeface="Calibri"/>
                <a:cs typeface="Calibri"/>
              </a:rPr>
              <a:t>i</a:t>
            </a:r>
            <a:r>
              <a:rPr sz="9550" b="1" spc="-520" dirty="0">
                <a:latin typeface="Calibri"/>
                <a:cs typeface="Calibri"/>
              </a:rPr>
              <a:t>s</a:t>
            </a:r>
            <a:endParaRPr sz="9550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200" y="7509701"/>
            <a:ext cx="18516600" cy="2245487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9209" algn="ctr">
              <a:lnSpc>
                <a:spcPct val="100000"/>
              </a:lnSpc>
              <a:spcBef>
                <a:spcPts val="1290"/>
              </a:spcBef>
            </a:pPr>
            <a:r>
              <a:rPr sz="3950" b="1" dirty="0">
                <a:latin typeface="Times New Roman"/>
                <a:cs typeface="Times New Roman"/>
              </a:rPr>
              <a:t>Submitted</a:t>
            </a:r>
            <a:r>
              <a:rPr sz="3950" b="1" spc="790" dirty="0">
                <a:latin typeface="Times New Roman"/>
                <a:cs typeface="Times New Roman"/>
              </a:rPr>
              <a:t> </a:t>
            </a:r>
            <a:r>
              <a:rPr lang="en-US" sz="3950" b="1" spc="-25" dirty="0">
                <a:latin typeface="Times New Roman"/>
                <a:cs typeface="Times New Roman"/>
              </a:rPr>
              <a:t>to</a:t>
            </a:r>
            <a:r>
              <a:rPr sz="3950" spc="-25" dirty="0">
                <a:latin typeface="Times New Roman"/>
                <a:cs typeface="Times New Roman"/>
              </a:rPr>
              <a:t>:</a:t>
            </a:r>
            <a:endParaRPr sz="3950" dirty="0">
              <a:latin typeface="Times New Roman"/>
              <a:cs typeface="Times New Roman"/>
            </a:endParaRPr>
          </a:p>
          <a:p>
            <a:pPr marL="5908675" marR="5868670" algn="ctr">
              <a:lnSpc>
                <a:spcPts val="5740"/>
              </a:lnSpc>
              <a:spcBef>
                <a:spcPts val="355"/>
              </a:spcBef>
            </a:pPr>
            <a:r>
              <a:rPr sz="3800" b="1" spc="114" dirty="0">
                <a:latin typeface="Times New Roman"/>
                <a:cs typeface="Times New Roman"/>
              </a:rPr>
              <a:t>Prof</a:t>
            </a:r>
            <a:r>
              <a:rPr sz="3800" spc="114" dirty="0">
                <a:latin typeface="Times New Roman"/>
                <a:cs typeface="Times New Roman"/>
              </a:rPr>
              <a:t>.</a:t>
            </a:r>
            <a:r>
              <a:rPr sz="3800" spc="-25" dirty="0">
                <a:latin typeface="Times New Roman"/>
                <a:cs typeface="Times New Roman"/>
              </a:rPr>
              <a:t> </a:t>
            </a:r>
            <a:r>
              <a:rPr lang="en-US" sz="3800" spc="-25" dirty="0">
                <a:latin typeface="Times New Roman"/>
                <a:cs typeface="Times New Roman"/>
              </a:rPr>
              <a:t> Pawan Tiwari</a:t>
            </a:r>
            <a:endParaRPr sz="3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  <a:tabLst>
                <a:tab pos="7608570" algn="l"/>
              </a:tabLst>
            </a:pPr>
            <a:r>
              <a:rPr sz="3900" spc="105" dirty="0">
                <a:latin typeface="Times New Roman"/>
                <a:cs typeface="Times New Roman"/>
              </a:rPr>
              <a:t>Department</a:t>
            </a:r>
            <a:r>
              <a:rPr sz="3900" spc="250" dirty="0">
                <a:latin typeface="Times New Roman"/>
                <a:cs typeface="Times New Roman"/>
              </a:rPr>
              <a:t> </a:t>
            </a:r>
            <a:r>
              <a:rPr sz="3900" dirty="0">
                <a:latin typeface="Times New Roman"/>
                <a:cs typeface="Times New Roman"/>
              </a:rPr>
              <a:t>of</a:t>
            </a:r>
            <a:r>
              <a:rPr sz="3900" spc="25" dirty="0">
                <a:latin typeface="Times New Roman"/>
                <a:cs typeface="Times New Roman"/>
              </a:rPr>
              <a:t> </a:t>
            </a:r>
            <a:r>
              <a:rPr sz="3900" spc="95" dirty="0">
                <a:latin typeface="Times New Roman"/>
                <a:cs typeface="Times New Roman"/>
              </a:rPr>
              <a:t>Computer</a:t>
            </a:r>
            <a:r>
              <a:rPr sz="3900" spc="170" dirty="0">
                <a:latin typeface="Times New Roman"/>
                <a:cs typeface="Times New Roman"/>
              </a:rPr>
              <a:t> </a:t>
            </a:r>
            <a:r>
              <a:rPr sz="3900" spc="-10" dirty="0">
                <a:latin typeface="Times New Roman"/>
                <a:cs typeface="Times New Roman"/>
              </a:rPr>
              <a:t>Science</a:t>
            </a:r>
            <a:r>
              <a:rPr lang="en-US" sz="3900" spc="-10" dirty="0">
                <a:latin typeface="Times New Roman"/>
                <a:cs typeface="Times New Roman"/>
              </a:rPr>
              <a:t>      </a:t>
            </a:r>
            <a:r>
              <a:rPr sz="3900" spc="50" dirty="0">
                <a:latin typeface="Times New Roman"/>
                <a:cs typeface="Times New Roman"/>
              </a:rPr>
              <a:t>Engineering</a:t>
            </a:r>
            <a:r>
              <a:rPr sz="3900" spc="305" dirty="0">
                <a:latin typeface="Times New Roman"/>
                <a:cs typeface="Times New Roman"/>
              </a:rPr>
              <a:t> </a:t>
            </a:r>
            <a:r>
              <a:rPr sz="3900" spc="110" dirty="0">
                <a:latin typeface="Times New Roman"/>
                <a:cs typeface="Times New Roman"/>
              </a:rPr>
              <a:t>and</a:t>
            </a:r>
            <a:r>
              <a:rPr sz="3900" spc="165" dirty="0">
                <a:latin typeface="Times New Roman"/>
                <a:cs typeface="Times New Roman"/>
              </a:rPr>
              <a:t> </a:t>
            </a:r>
            <a:r>
              <a:rPr sz="3900" spc="65" dirty="0">
                <a:latin typeface="Times New Roman"/>
                <a:cs typeface="Times New Roman"/>
              </a:rPr>
              <a:t>Information</a:t>
            </a:r>
            <a:r>
              <a:rPr sz="3900" spc="459" dirty="0">
                <a:latin typeface="Times New Roman"/>
                <a:cs typeface="Times New Roman"/>
              </a:rPr>
              <a:t> </a:t>
            </a:r>
            <a:r>
              <a:rPr sz="3900" spc="-10" dirty="0">
                <a:latin typeface="Times New Roman"/>
                <a:cs typeface="Times New Roman"/>
              </a:rPr>
              <a:t>Technology</a:t>
            </a:r>
            <a:endParaRPr sz="3900" dirty="0">
              <a:latin typeface="Times New Roman"/>
              <a:cs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FB2BA3-6B11-71E7-FBB6-07A576601A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08" y="2797968"/>
            <a:ext cx="14630399" cy="31956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0D17640-AF3F-28A0-3749-4930E88A7BE6}"/>
              </a:ext>
            </a:extLst>
          </p:cNvPr>
          <p:cNvSpPr/>
          <p:nvPr/>
        </p:nvSpPr>
        <p:spPr>
          <a:xfrm>
            <a:off x="25336" y="6139026"/>
            <a:ext cx="7086600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900" dirty="0">
                <a:solidFill>
                  <a:schemeClr val="tx1"/>
                </a:solidFill>
              </a:rPr>
              <a:t>Name :- Rustam Ali</a:t>
            </a:r>
          </a:p>
          <a:p>
            <a:pPr algn="l"/>
            <a:r>
              <a:rPr lang="en-US" sz="3900" dirty="0">
                <a:solidFill>
                  <a:schemeClr val="tx1"/>
                </a:solidFill>
              </a:rPr>
              <a:t>Roll Number :- 0133CI231230</a:t>
            </a:r>
          </a:p>
          <a:p>
            <a:pPr algn="l"/>
            <a:r>
              <a:rPr lang="en-US" sz="3900" dirty="0">
                <a:solidFill>
                  <a:schemeClr val="tx1"/>
                </a:solidFill>
              </a:rPr>
              <a:t>Branch/Section :- CSIT  - ‘D’</a:t>
            </a:r>
            <a:endParaRPr lang="en-IN" sz="3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8C120-7C74-B5C9-E12F-02AF7EA28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31"/>
            <a:ext cx="19507200" cy="1097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3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0400" y="9763125"/>
            <a:ext cx="590550" cy="571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3000" y="9801225"/>
            <a:ext cx="104775" cy="190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115800" y="4448175"/>
            <a:ext cx="5800725" cy="4429125"/>
            <a:chOff x="12115800" y="4448175"/>
            <a:chExt cx="5800725" cy="44291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15800" y="4772025"/>
              <a:ext cx="5800725" cy="4105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78275" y="4448175"/>
              <a:ext cx="666750" cy="28575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" y="638175"/>
            <a:ext cx="3752850" cy="7810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30347" y="257175"/>
            <a:ext cx="2602230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900" dirty="0"/>
              <a:t>on</a:t>
            </a:r>
            <a:r>
              <a:rPr sz="8900" spc="840" dirty="0"/>
              <a:t> </a:t>
            </a:r>
            <a:r>
              <a:rPr sz="8900" spc="-25" dirty="0"/>
              <a:t>en</a:t>
            </a:r>
            <a:endParaRPr sz="8900"/>
          </a:p>
        </p:txBody>
      </p:sp>
      <p:sp>
        <p:nvSpPr>
          <p:cNvPr id="9" name="object 9"/>
          <p:cNvSpPr txBox="1"/>
          <p:nvPr/>
        </p:nvSpPr>
        <p:spPr>
          <a:xfrm>
            <a:off x="595610" y="1771775"/>
            <a:ext cx="6888480" cy="465963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59435" indent="-546100">
              <a:lnSpc>
                <a:spcPct val="100000"/>
              </a:lnSpc>
              <a:spcBef>
                <a:spcPts val="1085"/>
              </a:spcBef>
              <a:buChar char="•"/>
              <a:tabLst>
                <a:tab pos="559435" algn="l"/>
              </a:tabLst>
            </a:pPr>
            <a:r>
              <a:rPr sz="4200" spc="-10" dirty="0">
                <a:latin typeface="Times New Roman"/>
                <a:cs typeface="Times New Roman"/>
              </a:rPr>
              <a:t>Terminologies</a:t>
            </a:r>
            <a:endParaRPr sz="4200">
              <a:latin typeface="Times New Roman"/>
              <a:cs typeface="Times New Roman"/>
            </a:endParaRPr>
          </a:p>
          <a:p>
            <a:pPr marL="565150" indent="-552450">
              <a:lnSpc>
                <a:spcPct val="100000"/>
              </a:lnSpc>
              <a:spcBef>
                <a:spcPts val="1010"/>
              </a:spcBef>
              <a:buChar char="•"/>
              <a:tabLst>
                <a:tab pos="565150" algn="l"/>
              </a:tabLst>
            </a:pPr>
            <a:r>
              <a:rPr sz="4300" spc="-60" dirty="0">
                <a:latin typeface="Times New Roman"/>
                <a:cs typeface="Times New Roman"/>
              </a:rPr>
              <a:t>Course</a:t>
            </a:r>
            <a:r>
              <a:rPr sz="4300" spc="-204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Objective</a:t>
            </a:r>
            <a:endParaRPr sz="4300">
              <a:latin typeface="Times New Roman"/>
              <a:cs typeface="Times New Roman"/>
            </a:endParaRPr>
          </a:p>
          <a:p>
            <a:pPr marL="561340" indent="-548005">
              <a:lnSpc>
                <a:spcPct val="100000"/>
              </a:lnSpc>
              <a:spcBef>
                <a:spcPts val="980"/>
              </a:spcBef>
              <a:buChar char="•"/>
              <a:tabLst>
                <a:tab pos="561340" algn="l"/>
              </a:tabLst>
            </a:pPr>
            <a:r>
              <a:rPr sz="4200" dirty="0">
                <a:latin typeface="Times New Roman"/>
                <a:cs typeface="Times New Roman"/>
              </a:rPr>
              <a:t>Skeleton</a:t>
            </a:r>
            <a:r>
              <a:rPr sz="4200" spc="-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of</a:t>
            </a:r>
            <a:r>
              <a:rPr sz="4200" spc="-19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the</a:t>
            </a:r>
            <a:r>
              <a:rPr sz="4200" spc="-260" dirty="0">
                <a:latin typeface="Times New Roman"/>
                <a:cs typeface="Times New Roman"/>
              </a:rPr>
              <a:t> </a:t>
            </a:r>
            <a:r>
              <a:rPr sz="4200" spc="-25" dirty="0">
                <a:latin typeface="Times New Roman"/>
                <a:cs typeface="Times New Roman"/>
              </a:rPr>
              <a:t>ADA</a:t>
            </a:r>
            <a:endParaRPr sz="4200">
              <a:latin typeface="Times New Roman"/>
              <a:cs typeface="Times New Roman"/>
            </a:endParaRPr>
          </a:p>
          <a:p>
            <a:pPr marL="561975" indent="-549275">
              <a:lnSpc>
                <a:spcPct val="100000"/>
              </a:lnSpc>
              <a:spcBef>
                <a:spcPts val="985"/>
              </a:spcBef>
              <a:buChar char="•"/>
              <a:tabLst>
                <a:tab pos="561975" algn="l"/>
              </a:tabLst>
            </a:pPr>
            <a:r>
              <a:rPr sz="4250" spc="-35" dirty="0">
                <a:latin typeface="Times New Roman"/>
                <a:cs typeface="Times New Roman"/>
              </a:rPr>
              <a:t>Introduction</a:t>
            </a:r>
            <a:r>
              <a:rPr sz="4250" spc="-65" dirty="0">
                <a:latin typeface="Times New Roman"/>
                <a:cs typeface="Times New Roman"/>
              </a:rPr>
              <a:t> </a:t>
            </a:r>
            <a:r>
              <a:rPr sz="4250" spc="-50" dirty="0">
                <a:latin typeface="Times New Roman"/>
                <a:cs typeface="Times New Roman"/>
              </a:rPr>
              <a:t>to</a:t>
            </a:r>
            <a:r>
              <a:rPr sz="4250" spc="-21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ADA</a:t>
            </a:r>
            <a:endParaRPr sz="4250">
              <a:latin typeface="Times New Roman"/>
              <a:cs typeface="Times New Roman"/>
            </a:endParaRPr>
          </a:p>
          <a:p>
            <a:pPr marL="561975" indent="-549275">
              <a:lnSpc>
                <a:spcPct val="100000"/>
              </a:lnSpc>
              <a:spcBef>
                <a:spcPts val="1010"/>
              </a:spcBef>
              <a:buChar char="•"/>
              <a:tabLst>
                <a:tab pos="561975" algn="l"/>
              </a:tabLst>
            </a:pPr>
            <a:r>
              <a:rPr sz="4250" spc="-40" dirty="0">
                <a:latin typeface="Times New Roman"/>
                <a:cs typeface="Times New Roman"/>
              </a:rPr>
              <a:t>Asymptotic</a:t>
            </a:r>
            <a:r>
              <a:rPr sz="4250" spc="-2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Notations</a:t>
            </a:r>
            <a:endParaRPr sz="4250">
              <a:latin typeface="Times New Roman"/>
              <a:cs typeface="Times New Roman"/>
            </a:endParaRPr>
          </a:p>
          <a:p>
            <a:pPr marL="561975" indent="-549275">
              <a:lnSpc>
                <a:spcPct val="100000"/>
              </a:lnSpc>
              <a:spcBef>
                <a:spcPts val="975"/>
              </a:spcBef>
              <a:buChar char="•"/>
              <a:tabLst>
                <a:tab pos="561975" algn="l"/>
              </a:tabLst>
            </a:pPr>
            <a:r>
              <a:rPr sz="4250" spc="-35" dirty="0">
                <a:latin typeface="Times New Roman"/>
                <a:cs typeface="Times New Roman"/>
              </a:rPr>
              <a:t>Algorithm</a:t>
            </a:r>
            <a:r>
              <a:rPr sz="4250" spc="-55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Design</a:t>
            </a:r>
            <a:r>
              <a:rPr sz="4250" spc="-235" dirty="0">
                <a:latin typeface="Times New Roman"/>
                <a:cs typeface="Times New Roman"/>
              </a:rPr>
              <a:t> </a:t>
            </a:r>
            <a:r>
              <a:rPr sz="4250" spc="-95" dirty="0">
                <a:latin typeface="Times New Roman"/>
                <a:cs typeface="Times New Roman"/>
              </a:rPr>
              <a:t>Techniques</a:t>
            </a:r>
            <a:endParaRPr sz="4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1975" y="4743450"/>
            <a:ext cx="390525" cy="381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25575" y="3571875"/>
            <a:ext cx="4791075" cy="6724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891" y="142875"/>
            <a:ext cx="5699760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400" spc="-40" dirty="0"/>
              <a:t>Terminologies:</a:t>
            </a:r>
            <a:endParaRPr sz="7400"/>
          </a:p>
        </p:txBody>
      </p:sp>
      <p:sp>
        <p:nvSpPr>
          <p:cNvPr id="5" name="object 5"/>
          <p:cNvSpPr txBox="1"/>
          <p:nvPr/>
        </p:nvSpPr>
        <p:spPr>
          <a:xfrm>
            <a:off x="349001" y="1321435"/>
            <a:ext cx="9165590" cy="15779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230"/>
              </a:spcBef>
              <a:buChar char="•"/>
              <a:tabLst>
                <a:tab pos="379095" algn="l"/>
              </a:tabLst>
            </a:pPr>
            <a:r>
              <a:rPr sz="4150" spc="90" dirty="0">
                <a:latin typeface="Times New Roman"/>
                <a:cs typeface="Times New Roman"/>
              </a:rPr>
              <a:t>Algorithm</a:t>
            </a:r>
            <a:r>
              <a:rPr sz="4150" spc="375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Design:</a:t>
            </a:r>
            <a:endParaRPr sz="41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1135"/>
              </a:spcBef>
            </a:pPr>
            <a:r>
              <a:rPr sz="4150" dirty="0">
                <a:latin typeface="Times New Roman"/>
                <a:cs typeface="Times New Roman"/>
              </a:rPr>
              <a:t>Methods</a:t>
            </a:r>
            <a:r>
              <a:rPr sz="4150" spc="-2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for</a:t>
            </a:r>
            <a:r>
              <a:rPr sz="4150" spc="-15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designing</a:t>
            </a:r>
            <a:r>
              <a:rPr sz="4150" spc="4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efficient</a:t>
            </a:r>
            <a:r>
              <a:rPr sz="4150" spc="30" dirty="0">
                <a:latin typeface="Times New Roman"/>
                <a:cs typeface="Times New Roman"/>
              </a:rPr>
              <a:t> </a:t>
            </a:r>
            <a:r>
              <a:rPr sz="4150" spc="-25" dirty="0">
                <a:latin typeface="Times New Roman"/>
                <a:cs typeface="Times New Roman"/>
              </a:rPr>
              <a:t>algorithms.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612" y="3642872"/>
            <a:ext cx="11487150" cy="158496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050"/>
              </a:spcBef>
              <a:buChar char="•"/>
              <a:tabLst>
                <a:tab pos="380365" algn="l"/>
              </a:tabLst>
            </a:pPr>
            <a:r>
              <a:rPr sz="4350" dirty="0">
                <a:latin typeface="Times New Roman"/>
                <a:cs typeface="Times New Roman"/>
              </a:rPr>
              <a:t>Algorithm</a:t>
            </a:r>
            <a:r>
              <a:rPr sz="4350" spc="-60" dirty="0">
                <a:latin typeface="Times New Roman"/>
                <a:cs typeface="Times New Roman"/>
              </a:rPr>
              <a:t> </a:t>
            </a:r>
            <a:r>
              <a:rPr sz="4350" spc="-10" dirty="0">
                <a:latin typeface="Times New Roman"/>
                <a:cs typeface="Times New Roman"/>
              </a:rPr>
              <a:t>Analysis:</a:t>
            </a:r>
            <a:endParaRPr sz="43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944"/>
              </a:spcBef>
            </a:pPr>
            <a:r>
              <a:rPr sz="4300" spc="-70" dirty="0">
                <a:latin typeface="Times New Roman"/>
                <a:cs typeface="Times New Roman"/>
              </a:rPr>
              <a:t>Analysis</a:t>
            </a:r>
            <a:r>
              <a:rPr sz="4300" spc="-13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of</a:t>
            </a:r>
            <a:r>
              <a:rPr sz="4300" spc="-235" dirty="0">
                <a:latin typeface="Times New Roman"/>
                <a:cs typeface="Times New Roman"/>
              </a:rPr>
              <a:t> </a:t>
            </a:r>
            <a:r>
              <a:rPr sz="4300" spc="-65" dirty="0">
                <a:latin typeface="Times New Roman"/>
                <a:cs typeface="Times New Roman"/>
              </a:rPr>
              <a:t>resource</a:t>
            </a:r>
            <a:r>
              <a:rPr sz="4300" spc="-120" dirty="0">
                <a:latin typeface="Times New Roman"/>
                <a:cs typeface="Times New Roman"/>
              </a:rPr>
              <a:t> </a:t>
            </a:r>
            <a:r>
              <a:rPr sz="4300" spc="-55" dirty="0">
                <a:latin typeface="Times New Roman"/>
                <a:cs typeface="Times New Roman"/>
              </a:rPr>
              <a:t>usage</a:t>
            </a:r>
            <a:r>
              <a:rPr sz="4300" spc="-17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of</a:t>
            </a:r>
            <a:r>
              <a:rPr sz="4300" spc="-250" dirty="0">
                <a:latin typeface="Times New Roman"/>
                <a:cs typeface="Times New Roman"/>
              </a:rPr>
              <a:t> </a:t>
            </a:r>
            <a:r>
              <a:rPr sz="4300" spc="-60" dirty="0">
                <a:latin typeface="Times New Roman"/>
                <a:cs typeface="Times New Roman"/>
              </a:rPr>
              <a:t>given</a:t>
            </a:r>
            <a:r>
              <a:rPr sz="4300" spc="-210" dirty="0">
                <a:latin typeface="Times New Roman"/>
                <a:cs typeface="Times New Roman"/>
              </a:rPr>
              <a:t> </a:t>
            </a:r>
            <a:r>
              <a:rPr sz="4300" spc="-70" dirty="0">
                <a:latin typeface="Times New Roman"/>
                <a:cs typeface="Times New Roman"/>
              </a:rPr>
              <a:t>algorithms. </a:t>
            </a:r>
            <a:r>
              <a:rPr sz="4300" spc="-10" dirty="0">
                <a:latin typeface="Times New Roman"/>
                <a:cs typeface="Times New Roman"/>
              </a:rPr>
              <a:t>(Time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07118" y="4546600"/>
            <a:ext cx="14351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00" dirty="0">
                <a:latin typeface="Times New Roman"/>
                <a:cs typeface="Times New Roman"/>
              </a:rPr>
              <a:t>Space)</a:t>
            </a:r>
            <a:endParaRPr sz="4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58825" y="5191125"/>
            <a:ext cx="5029200" cy="50006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257175"/>
            <a:ext cx="3248025" cy="7810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2400" y="257175"/>
            <a:ext cx="4724400" cy="10001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73173" y="-119062"/>
            <a:ext cx="2542540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900" spc="95" dirty="0"/>
              <a:t>ourse</a:t>
            </a:r>
            <a:endParaRPr sz="8900"/>
          </a:p>
        </p:txBody>
      </p:sp>
      <p:sp>
        <p:nvSpPr>
          <p:cNvPr id="6" name="object 6"/>
          <p:cNvSpPr txBox="1"/>
          <p:nvPr/>
        </p:nvSpPr>
        <p:spPr>
          <a:xfrm>
            <a:off x="5736555" y="-119062"/>
            <a:ext cx="3046095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900" dirty="0">
                <a:latin typeface="Times New Roman"/>
                <a:cs typeface="Times New Roman"/>
              </a:rPr>
              <a:t>ec</a:t>
            </a:r>
            <a:r>
              <a:rPr sz="8900" spc="565" dirty="0">
                <a:latin typeface="Times New Roman"/>
                <a:cs typeface="Times New Roman"/>
              </a:rPr>
              <a:t> </a:t>
            </a:r>
            <a:r>
              <a:rPr sz="8900" spc="50" dirty="0">
                <a:latin typeface="Times New Roman"/>
                <a:cs typeface="Times New Roman"/>
              </a:rPr>
              <a:t>we:</a:t>
            </a:r>
            <a:endParaRPr sz="8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632" y="1428750"/>
            <a:ext cx="18598515" cy="18103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75285" marR="5080" indent="-363220" algn="just">
              <a:lnSpc>
                <a:spcPct val="87800"/>
              </a:lnSpc>
              <a:spcBef>
                <a:spcPts val="720"/>
              </a:spcBef>
              <a:buChar char="•"/>
              <a:tabLst>
                <a:tab pos="375285" algn="l"/>
                <a:tab pos="377190" algn="l"/>
              </a:tabLst>
            </a:pPr>
            <a:r>
              <a:rPr sz="4250" dirty="0">
                <a:latin typeface="Times New Roman"/>
                <a:cs typeface="Times New Roman"/>
              </a:rPr>
              <a:t>	The</a:t>
            </a:r>
            <a:r>
              <a:rPr sz="4250" spc="8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data</a:t>
            </a:r>
            <a:r>
              <a:rPr sz="4250" spc="6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structure</a:t>
            </a:r>
            <a:r>
              <a:rPr sz="4250" spc="25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includes</a:t>
            </a:r>
            <a:r>
              <a:rPr sz="4250" spc="15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analyzing</a:t>
            </a:r>
            <a:r>
              <a:rPr sz="4250" spc="24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various</a:t>
            </a:r>
            <a:r>
              <a:rPr sz="4250" spc="2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algorithms</a:t>
            </a:r>
            <a:r>
              <a:rPr sz="4250" spc="26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along</a:t>
            </a:r>
            <a:r>
              <a:rPr sz="4250" spc="12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with</a:t>
            </a:r>
            <a:r>
              <a:rPr sz="4250" spc="14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time</a:t>
            </a:r>
            <a:r>
              <a:rPr sz="4250" spc="8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and</a:t>
            </a:r>
            <a:r>
              <a:rPr sz="4250" spc="114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space </a:t>
            </a:r>
            <a:r>
              <a:rPr sz="4300" dirty="0">
                <a:latin typeface="Times New Roman"/>
                <a:cs typeface="Times New Roman"/>
              </a:rPr>
              <a:t>complexities.</a:t>
            </a:r>
            <a:r>
              <a:rPr sz="4300" spc="980" dirty="0">
                <a:latin typeface="Times New Roman"/>
                <a:cs typeface="Times New Roman"/>
              </a:rPr>
              <a:t>  </a:t>
            </a:r>
            <a:r>
              <a:rPr sz="4300" dirty="0">
                <a:latin typeface="Times New Roman"/>
                <a:cs typeface="Times New Roman"/>
              </a:rPr>
              <a:t>also</a:t>
            </a:r>
            <a:r>
              <a:rPr sz="4300" spc="10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helps</a:t>
            </a:r>
            <a:r>
              <a:rPr sz="4300" spc="9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students</a:t>
            </a:r>
            <a:r>
              <a:rPr sz="4300" spc="14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to</a:t>
            </a:r>
            <a:r>
              <a:rPr sz="4300" spc="-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design</a:t>
            </a:r>
            <a:r>
              <a:rPr sz="4300" spc="130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new</a:t>
            </a:r>
            <a:r>
              <a:rPr sz="4300" spc="85" dirty="0">
                <a:latin typeface="Times New Roman"/>
                <a:cs typeface="Times New Roman"/>
              </a:rPr>
              <a:t> </a:t>
            </a:r>
            <a:r>
              <a:rPr sz="4300" spc="-20" dirty="0">
                <a:latin typeface="Times New Roman"/>
                <a:cs typeface="Times New Roman"/>
              </a:rPr>
              <a:t>algorithms</a:t>
            </a:r>
            <a:r>
              <a:rPr sz="4300" spc="185" dirty="0">
                <a:latin typeface="Times New Roman"/>
                <a:cs typeface="Times New Roman"/>
              </a:rPr>
              <a:t> </a:t>
            </a:r>
            <a:r>
              <a:rPr sz="4300" dirty="0">
                <a:latin typeface="Times New Roman"/>
                <a:cs typeface="Times New Roman"/>
              </a:rPr>
              <a:t>through</a:t>
            </a:r>
            <a:r>
              <a:rPr sz="4300" spc="140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mathematical </a:t>
            </a:r>
            <a:r>
              <a:rPr sz="4200" dirty="0">
                <a:latin typeface="Times New Roman"/>
                <a:cs typeface="Times New Roman"/>
              </a:rPr>
              <a:t>analysis</a:t>
            </a:r>
            <a:r>
              <a:rPr sz="4200" spc="-3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and</a:t>
            </a:r>
            <a:r>
              <a:rPr sz="4200" spc="-160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programming.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8401" y="7267575"/>
            <a:ext cx="34010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0" algn="l"/>
              </a:tabLst>
            </a:pPr>
            <a:r>
              <a:rPr sz="4700" spc="65" dirty="0">
                <a:solidFill>
                  <a:srgbClr val="282828"/>
                </a:solidFill>
                <a:latin typeface="Calibri"/>
                <a:cs typeface="Calibri"/>
              </a:rPr>
              <a:t>Algorithms</a:t>
            </a:r>
            <a:r>
              <a:rPr sz="4700" dirty="0">
                <a:solidFill>
                  <a:srgbClr val="282828"/>
                </a:solidFill>
                <a:latin typeface="Calibri"/>
                <a:cs typeface="Calibri"/>
              </a:rPr>
              <a:t>	</a:t>
            </a:r>
            <a:r>
              <a:rPr sz="4700" spc="-100" dirty="0">
                <a:solidFill>
                  <a:srgbClr val="74C346"/>
                </a:solidFill>
                <a:latin typeface="Calibri"/>
                <a:cs typeface="Calibri"/>
              </a:rPr>
              <a:t>j§</a:t>
            </a:r>
            <a:endParaRPr sz="4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2066925"/>
            <a:ext cx="17459325" cy="67151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90525"/>
            <a:ext cx="3848100" cy="7810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0575" y="390525"/>
            <a:ext cx="3752850" cy="7810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69355" y="9525"/>
            <a:ext cx="2785110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900" dirty="0"/>
              <a:t>eie</a:t>
            </a:r>
            <a:r>
              <a:rPr sz="8900" spc="295" dirty="0"/>
              <a:t> </a:t>
            </a:r>
            <a:r>
              <a:rPr sz="8900" spc="-25" dirty="0"/>
              <a:t>on</a:t>
            </a:r>
            <a:endParaRPr sz="8900"/>
          </a:p>
        </p:txBody>
      </p:sp>
      <p:sp>
        <p:nvSpPr>
          <p:cNvPr id="6" name="object 6"/>
          <p:cNvSpPr txBox="1"/>
          <p:nvPr/>
        </p:nvSpPr>
        <p:spPr>
          <a:xfrm>
            <a:off x="8345883" y="2290762"/>
            <a:ext cx="1236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>
                <a:latin typeface="Times New Roman"/>
                <a:cs typeface="Times New Roman"/>
              </a:rPr>
              <a:t>ADA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2684" y="6035675"/>
            <a:ext cx="2268855" cy="1758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algn="ctr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imes New Roman"/>
                <a:cs typeface="Times New Roman"/>
              </a:rPr>
              <a:t>ÙÎRİti1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3750" dirty="0">
                <a:latin typeface="Times New Roman"/>
                <a:cs typeface="Times New Roman"/>
              </a:rPr>
              <a:t>Divide</a:t>
            </a:r>
            <a:r>
              <a:rPr sz="3750" spc="550" dirty="0">
                <a:latin typeface="Times New Roman"/>
                <a:cs typeface="Times New Roman"/>
              </a:rPr>
              <a:t> </a:t>
            </a:r>
            <a:r>
              <a:rPr sz="3750" spc="155" dirty="0">
                <a:latin typeface="Times New Roman"/>
                <a:cs typeface="Times New Roman"/>
              </a:rPr>
              <a:t>and</a:t>
            </a:r>
            <a:endParaRPr sz="37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</a:pPr>
            <a:r>
              <a:rPr sz="3900" spc="85" dirty="0">
                <a:latin typeface="Times New Roman"/>
                <a:cs typeface="Times New Roman"/>
              </a:rPr>
              <a:t>Conquer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8868" y="6107112"/>
            <a:ext cx="1758950" cy="175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4629" algn="r">
              <a:lnSpc>
                <a:spcPct val="100000"/>
              </a:lnSpc>
              <a:spcBef>
                <a:spcPts val="100"/>
              </a:spcBef>
            </a:pPr>
            <a:r>
              <a:rPr sz="3600" spc="140" dirty="0">
                <a:latin typeface="Times New Roman"/>
                <a:cs typeface="Times New Roman"/>
              </a:rPr>
              <a:t>Unit:2</a:t>
            </a:r>
            <a:endParaRPr sz="3600">
              <a:latin typeface="Times New Roman"/>
              <a:cs typeface="Times New Roman"/>
            </a:endParaRPr>
          </a:p>
          <a:p>
            <a:pPr marR="95885" algn="r">
              <a:lnSpc>
                <a:spcPts val="4465"/>
              </a:lnSpc>
              <a:spcBef>
                <a:spcPts val="180"/>
              </a:spcBef>
            </a:pPr>
            <a:r>
              <a:rPr sz="3750" spc="114" dirty="0">
                <a:latin typeface="Times New Roman"/>
                <a:cs typeface="Times New Roman"/>
              </a:rPr>
              <a:t>Greedy</a:t>
            </a:r>
            <a:endParaRPr sz="3750">
              <a:latin typeface="Times New Roman"/>
              <a:cs typeface="Times New Roman"/>
            </a:endParaRPr>
          </a:p>
          <a:p>
            <a:pPr marR="5080" algn="r">
              <a:lnSpc>
                <a:spcPts val="4645"/>
              </a:lnSpc>
            </a:pPr>
            <a:r>
              <a:rPr sz="3900" spc="55" dirty="0">
                <a:latin typeface="Times New Roman"/>
                <a:cs typeface="Times New Roman"/>
              </a:rPr>
              <a:t>Strategy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3872" y="6073775"/>
            <a:ext cx="2886075" cy="175323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40640" algn="ctr">
              <a:lnSpc>
                <a:spcPct val="101200"/>
              </a:lnSpc>
              <a:spcBef>
                <a:spcPts val="45"/>
              </a:spcBef>
            </a:pPr>
            <a:r>
              <a:rPr sz="3600" spc="170" dirty="0">
                <a:latin typeface="Times New Roman"/>
                <a:cs typeface="Times New Roman"/>
              </a:rPr>
              <a:t>Unit:3 </a:t>
            </a:r>
            <a:r>
              <a:rPr sz="3750" spc="60" dirty="0">
                <a:latin typeface="Times New Roman"/>
                <a:cs typeface="Times New Roman"/>
              </a:rPr>
              <a:t>Dynamİc </a:t>
            </a:r>
            <a:r>
              <a:rPr sz="3900" spc="65" dirty="0">
                <a:latin typeface="Times New Roman"/>
                <a:cs typeface="Times New Roman"/>
              </a:rPr>
              <a:t>Programming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7799" y="5815012"/>
            <a:ext cx="2994660" cy="2367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985" algn="ctr">
              <a:lnSpc>
                <a:spcPct val="100200"/>
              </a:lnSpc>
              <a:spcBef>
                <a:spcPts val="90"/>
              </a:spcBef>
            </a:pPr>
            <a:r>
              <a:rPr sz="3800" spc="70" dirty="0">
                <a:latin typeface="Times New Roman"/>
                <a:cs typeface="Times New Roman"/>
              </a:rPr>
              <a:t>Unit:4 </a:t>
            </a:r>
            <a:r>
              <a:rPr sz="3900" spc="75" dirty="0">
                <a:latin typeface="Times New Roman"/>
                <a:cs typeface="Times New Roman"/>
              </a:rPr>
              <a:t>Backtracking </a:t>
            </a:r>
            <a:r>
              <a:rPr sz="3800" spc="145" dirty="0">
                <a:latin typeface="Times New Roman"/>
                <a:cs typeface="Times New Roman"/>
              </a:rPr>
              <a:t>and</a:t>
            </a:r>
            <a:r>
              <a:rPr sz="3800" spc="275" dirty="0">
                <a:latin typeface="Times New Roman"/>
                <a:cs typeface="Times New Roman"/>
              </a:rPr>
              <a:t> </a:t>
            </a:r>
            <a:r>
              <a:rPr sz="3800" spc="125" dirty="0">
                <a:latin typeface="Times New Roman"/>
                <a:cs typeface="Times New Roman"/>
              </a:rPr>
              <a:t>Branch</a:t>
            </a:r>
            <a:r>
              <a:rPr sz="3800" spc="254" dirty="0">
                <a:latin typeface="Times New Roman"/>
                <a:cs typeface="Times New Roman"/>
              </a:rPr>
              <a:t> </a:t>
            </a:r>
            <a:r>
              <a:rPr sz="3800" spc="125" dirty="0">
                <a:latin typeface="Times New Roman"/>
                <a:cs typeface="Times New Roman"/>
              </a:rPr>
              <a:t>&amp; </a:t>
            </a:r>
            <a:r>
              <a:rPr sz="3850" spc="-10" dirty="0">
                <a:latin typeface="Times New Roman"/>
                <a:cs typeface="Times New Roman"/>
              </a:rPr>
              <a:t>Bound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9711" y="6122987"/>
            <a:ext cx="2477135" cy="18053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065" marR="5080" indent="30480" algn="ctr">
              <a:lnSpc>
                <a:spcPts val="4610"/>
              </a:lnSpc>
              <a:spcBef>
                <a:spcPts val="385"/>
              </a:spcBef>
            </a:pPr>
            <a:r>
              <a:rPr sz="4000" spc="-10" dirty="0">
                <a:latin typeface="Times New Roman"/>
                <a:cs typeface="Times New Roman"/>
              </a:rPr>
              <a:t>Unit:5 </a:t>
            </a:r>
            <a:r>
              <a:rPr sz="3750" spc="190" dirty="0">
                <a:latin typeface="Times New Roman"/>
                <a:cs typeface="Times New Roman"/>
              </a:rPr>
              <a:t>Graphs</a:t>
            </a:r>
            <a:r>
              <a:rPr sz="3750" spc="305" dirty="0">
                <a:latin typeface="Times New Roman"/>
                <a:cs typeface="Times New Roman"/>
              </a:rPr>
              <a:t> </a:t>
            </a:r>
            <a:r>
              <a:rPr sz="3750" spc="155" dirty="0">
                <a:latin typeface="Times New Roman"/>
                <a:cs typeface="Times New Roman"/>
              </a:rPr>
              <a:t>and </a:t>
            </a:r>
            <a:r>
              <a:rPr sz="3950" spc="-10" dirty="0">
                <a:latin typeface="Times New Roman"/>
                <a:cs typeface="Times New Roman"/>
              </a:rPr>
              <a:t>Trees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4032" y="1557337"/>
            <a:ext cx="18653760" cy="596646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77190" marR="15875" indent="-365125">
              <a:lnSpc>
                <a:spcPts val="4500"/>
              </a:lnSpc>
              <a:spcBef>
                <a:spcPts val="750"/>
              </a:spcBef>
              <a:buChar char="•"/>
              <a:tabLst>
                <a:tab pos="377190" algn="l"/>
              </a:tabLst>
            </a:pP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20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set</a:t>
            </a:r>
            <a:r>
              <a:rPr sz="4250" spc="-18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of</a:t>
            </a:r>
            <a:r>
              <a:rPr sz="4250" spc="-21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rules</a:t>
            </a:r>
            <a:r>
              <a:rPr sz="4250" spc="-1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that</a:t>
            </a:r>
            <a:r>
              <a:rPr sz="4250" spc="-17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define</a:t>
            </a:r>
            <a:r>
              <a:rPr sz="4250" spc="-15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how</a:t>
            </a:r>
            <a:r>
              <a:rPr sz="4250" spc="-14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</a:t>
            </a:r>
            <a:r>
              <a:rPr sz="4250" spc="-19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particular</a:t>
            </a:r>
            <a:r>
              <a:rPr sz="4250" spc="-8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problem</a:t>
            </a:r>
            <a:r>
              <a:rPr sz="4250" spc="-7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can</a:t>
            </a:r>
            <a:r>
              <a:rPr sz="4250" spc="-15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be</a:t>
            </a:r>
            <a:r>
              <a:rPr sz="4250" spc="-24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solved</a:t>
            </a:r>
            <a:r>
              <a:rPr sz="4250" spc="-114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in</a:t>
            </a:r>
            <a:r>
              <a:rPr sz="4250" spc="-19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finite</a:t>
            </a:r>
            <a:r>
              <a:rPr sz="4250" spc="-165" dirty="0">
                <a:latin typeface="Times New Roman"/>
                <a:cs typeface="Times New Roman"/>
              </a:rPr>
              <a:t> </a:t>
            </a:r>
            <a:r>
              <a:rPr sz="4250" spc="-20" dirty="0">
                <a:latin typeface="Times New Roman"/>
                <a:cs typeface="Times New Roman"/>
              </a:rPr>
              <a:t>number</a:t>
            </a:r>
            <a:r>
              <a:rPr sz="4250" spc="-10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of </a:t>
            </a:r>
            <a:r>
              <a:rPr sz="4250" dirty="0">
                <a:latin typeface="Times New Roman"/>
                <a:cs typeface="Times New Roman"/>
              </a:rPr>
              <a:t>steps</a:t>
            </a:r>
            <a:r>
              <a:rPr sz="4250" spc="-13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is</a:t>
            </a:r>
            <a:r>
              <a:rPr sz="4250" spc="-195" dirty="0">
                <a:latin typeface="Times New Roman"/>
                <a:cs typeface="Times New Roman"/>
              </a:rPr>
              <a:t> </a:t>
            </a:r>
            <a:r>
              <a:rPr sz="4250" spc="-40" dirty="0">
                <a:latin typeface="Times New Roman"/>
                <a:cs typeface="Times New Roman"/>
              </a:rPr>
              <a:t>known</a:t>
            </a:r>
            <a:r>
              <a:rPr sz="4250" spc="-5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as</a:t>
            </a:r>
            <a:r>
              <a:rPr sz="4250" spc="-22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algorithm.</a:t>
            </a:r>
            <a:endParaRPr sz="4250" dirty="0">
              <a:latin typeface="Times New Roman"/>
              <a:cs typeface="Times New Roman"/>
            </a:endParaRPr>
          </a:p>
          <a:p>
            <a:pPr marL="379095" marR="5080" indent="-366395">
              <a:lnSpc>
                <a:spcPts val="4500"/>
              </a:lnSpc>
              <a:spcBef>
                <a:spcPts val="1610"/>
              </a:spcBef>
              <a:buChar char="•"/>
              <a:tabLst>
                <a:tab pos="386715" algn="l"/>
                <a:tab pos="3436620" algn="l"/>
                <a:tab pos="7049770" algn="l"/>
                <a:tab pos="9425305" algn="l"/>
                <a:tab pos="13066394" algn="l"/>
                <a:tab pos="15880715" algn="l"/>
              </a:tabLst>
            </a:pPr>
            <a:r>
              <a:rPr sz="4150" dirty="0">
                <a:latin typeface="Times New Roman"/>
                <a:cs typeface="Times New Roman"/>
              </a:rPr>
              <a:t>An</a:t>
            </a:r>
            <a:r>
              <a:rPr sz="4150" spc="315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algorithm</a:t>
            </a:r>
            <a:r>
              <a:rPr sz="4150" dirty="0">
                <a:latin typeface="Times New Roman"/>
                <a:cs typeface="Times New Roman"/>
              </a:rPr>
              <a:t>	is</a:t>
            </a:r>
            <a:r>
              <a:rPr sz="4150" spc="36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a</a:t>
            </a:r>
            <a:r>
              <a:rPr sz="4150" spc="36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list</a:t>
            </a:r>
            <a:r>
              <a:rPr sz="4150" spc="35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of</a:t>
            </a:r>
            <a:r>
              <a:rPr sz="4150" spc="315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steps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(Sequence</a:t>
            </a:r>
            <a:r>
              <a:rPr sz="4150" dirty="0">
                <a:latin typeface="Times New Roman"/>
                <a:cs typeface="Times New Roman"/>
              </a:rPr>
              <a:t>	of</a:t>
            </a:r>
            <a:r>
              <a:rPr sz="4150" spc="330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unambiguous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instructions)</a:t>
            </a:r>
            <a:r>
              <a:rPr sz="4150" dirty="0">
                <a:latin typeface="Times New Roman"/>
                <a:cs typeface="Times New Roman"/>
              </a:rPr>
              <a:t>	for</a:t>
            </a:r>
            <a:r>
              <a:rPr sz="4150" spc="34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solving</a:t>
            </a:r>
            <a:r>
              <a:rPr sz="4150" spc="355" dirty="0">
                <a:latin typeface="Times New Roman"/>
                <a:cs typeface="Times New Roman"/>
              </a:rPr>
              <a:t> </a:t>
            </a:r>
            <a:r>
              <a:rPr sz="4150" spc="-50" dirty="0">
                <a:latin typeface="Times New Roman"/>
                <a:cs typeface="Times New Roman"/>
              </a:rPr>
              <a:t>a 	</a:t>
            </a:r>
            <a:r>
              <a:rPr sz="4150" dirty="0">
                <a:latin typeface="Times New Roman"/>
                <a:cs typeface="Times New Roman"/>
              </a:rPr>
              <a:t>problem</a:t>
            </a:r>
            <a:r>
              <a:rPr sz="4150" spc="10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that</a:t>
            </a:r>
            <a:r>
              <a:rPr sz="4150" spc="-80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transforms</a:t>
            </a:r>
            <a:r>
              <a:rPr sz="4150" spc="19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the</a:t>
            </a:r>
            <a:r>
              <a:rPr sz="4150" spc="-8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input</a:t>
            </a:r>
            <a:r>
              <a:rPr sz="4150" spc="3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into</a:t>
            </a:r>
            <a:r>
              <a:rPr sz="4150" spc="-9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the</a:t>
            </a:r>
            <a:r>
              <a:rPr sz="4150" spc="-85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ouQut.</a:t>
            </a:r>
            <a:endParaRPr sz="4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30"/>
              </a:spcBef>
            </a:pPr>
            <a:endParaRPr sz="4150" dirty="0">
              <a:latin typeface="Times New Roman"/>
              <a:cs typeface="Times New Roman"/>
            </a:endParaRPr>
          </a:p>
          <a:p>
            <a:pPr marR="1798955" algn="ctr">
              <a:lnSpc>
                <a:spcPct val="100000"/>
              </a:lnSpc>
            </a:pPr>
            <a:r>
              <a:rPr sz="4000" spc="-10" dirty="0">
                <a:latin typeface="Times New Roman"/>
                <a:cs typeface="Times New Roman"/>
              </a:rPr>
              <a:t>Problem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75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R="1823085" algn="ctr">
              <a:lnSpc>
                <a:spcPct val="100000"/>
              </a:lnSpc>
            </a:pPr>
            <a:r>
              <a:rPr sz="3950" spc="-10" dirty="0">
                <a:latin typeface="Times New Roman"/>
                <a:cs typeface="Times New Roman"/>
              </a:rPr>
              <a:t>Algorithm</a:t>
            </a:r>
            <a:endParaRPr sz="39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3205" y="8520112"/>
            <a:ext cx="103251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latin typeface="Times New Roman"/>
                <a:cs typeface="Times New Roman"/>
              </a:rPr>
              <a:t>Input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3986" y="8493125"/>
            <a:ext cx="193865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-145" dirty="0">
                <a:latin typeface="Times New Roman"/>
                <a:cs typeface="Times New Roman"/>
              </a:rPr>
              <a:t>Computer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05204" y="8466137"/>
            <a:ext cx="1354455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spc="-40" dirty="0">
                <a:latin typeface="Times New Roman"/>
                <a:cs typeface="Times New Roman"/>
              </a:rPr>
              <a:t>Output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32A1E-BAE8-96B4-9814-EB713A38B81B}"/>
              </a:ext>
            </a:extLst>
          </p:cNvPr>
          <p:cNvSpPr/>
          <p:nvPr/>
        </p:nvSpPr>
        <p:spPr>
          <a:xfrm>
            <a:off x="609600" y="304800"/>
            <a:ext cx="495300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IN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47675"/>
            <a:ext cx="3886200" cy="10001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8300" y="447675"/>
            <a:ext cx="7410450" cy="1000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63316" y="23812"/>
            <a:ext cx="1046353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3045" algn="l"/>
                <a:tab pos="9218295" algn="l"/>
              </a:tabLst>
            </a:pPr>
            <a:r>
              <a:rPr sz="9200" spc="65" dirty="0"/>
              <a:t>er</a:t>
            </a:r>
            <a:r>
              <a:rPr sz="9200" spc="765" dirty="0"/>
              <a:t> </a:t>
            </a:r>
            <a:r>
              <a:rPr sz="9200" spc="-25" dirty="0"/>
              <a:t>ies</a:t>
            </a:r>
            <a:r>
              <a:rPr sz="9200" dirty="0"/>
              <a:t>	an</a:t>
            </a:r>
            <a:r>
              <a:rPr sz="9200" spc="250" dirty="0"/>
              <a:t> </a:t>
            </a:r>
            <a:r>
              <a:rPr sz="9200" spc="-50" dirty="0"/>
              <a:t>a</a:t>
            </a:r>
            <a:r>
              <a:rPr sz="9200" dirty="0"/>
              <a:t>	</a:t>
            </a:r>
            <a:r>
              <a:rPr sz="9200" spc="-25" dirty="0"/>
              <a:t>m:</a:t>
            </a:r>
            <a:endParaRPr sz="9200"/>
          </a:p>
        </p:txBody>
      </p:sp>
      <p:sp>
        <p:nvSpPr>
          <p:cNvPr id="5" name="object 5"/>
          <p:cNvSpPr txBox="1"/>
          <p:nvPr/>
        </p:nvSpPr>
        <p:spPr>
          <a:xfrm>
            <a:off x="394196" y="1373187"/>
            <a:ext cx="18489295" cy="71761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110"/>
              </a:spcBef>
              <a:buChar char="•"/>
              <a:tabLst>
                <a:tab pos="382270" algn="l"/>
              </a:tabLst>
            </a:pPr>
            <a:r>
              <a:rPr sz="4500" dirty="0">
                <a:latin typeface="Times New Roman"/>
                <a:cs typeface="Times New Roman"/>
              </a:rPr>
              <a:t>An</a:t>
            </a:r>
            <a:r>
              <a:rPr sz="4500" spc="-20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takes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zero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or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more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inputs.</a:t>
            </a:r>
            <a:endParaRPr sz="4500">
              <a:latin typeface="Times New Roman"/>
              <a:cs typeface="Times New Roman"/>
            </a:endParaRPr>
          </a:p>
          <a:p>
            <a:pPr marL="382270" indent="-369570">
              <a:lnSpc>
                <a:spcPct val="100000"/>
              </a:lnSpc>
              <a:spcBef>
                <a:spcPts val="1015"/>
              </a:spcBef>
              <a:buChar char="•"/>
              <a:tabLst>
                <a:tab pos="382270" algn="l"/>
              </a:tabLst>
            </a:pPr>
            <a:r>
              <a:rPr sz="4500" dirty="0">
                <a:latin typeface="Times New Roman"/>
                <a:cs typeface="Times New Roman"/>
              </a:rPr>
              <a:t>An</a:t>
            </a:r>
            <a:r>
              <a:rPr sz="4500" spc="-18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spc="1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results</a:t>
            </a:r>
            <a:r>
              <a:rPr sz="4500" spc="-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</a:t>
            </a:r>
            <a:r>
              <a:rPr sz="4500" spc="-2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one</a:t>
            </a:r>
            <a:r>
              <a:rPr sz="4500" spc="-1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or</a:t>
            </a:r>
            <a:r>
              <a:rPr sz="4500" spc="-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more</a:t>
            </a:r>
            <a:r>
              <a:rPr sz="4500" spc="-6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outputs.</a:t>
            </a:r>
            <a:endParaRPr sz="4500">
              <a:latin typeface="Times New Roman"/>
              <a:cs typeface="Times New Roman"/>
            </a:endParaRPr>
          </a:p>
          <a:p>
            <a:pPr marL="382270" indent="-369570">
              <a:lnSpc>
                <a:spcPct val="100000"/>
              </a:lnSpc>
              <a:spcBef>
                <a:spcPts val="1050"/>
              </a:spcBef>
              <a:buChar char="•"/>
              <a:tabLst>
                <a:tab pos="382270" algn="l"/>
              </a:tabLst>
            </a:pPr>
            <a:r>
              <a:rPr sz="4500" dirty="0">
                <a:latin typeface="Times New Roman"/>
                <a:cs typeface="Times New Roman"/>
              </a:rPr>
              <a:t>All</a:t>
            </a:r>
            <a:r>
              <a:rPr sz="4500" spc="-165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operations</a:t>
            </a:r>
            <a:r>
              <a:rPr sz="4500" spc="3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can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</a:t>
            </a:r>
            <a:r>
              <a:rPr sz="4500" spc="-13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carried </a:t>
            </a:r>
            <a:r>
              <a:rPr sz="4500" dirty="0">
                <a:latin typeface="Times New Roman"/>
                <a:cs typeface="Times New Roman"/>
              </a:rPr>
              <a:t>out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</a:t>
            </a:r>
            <a:r>
              <a:rPr sz="4500" spc="-20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finite</a:t>
            </a:r>
            <a:r>
              <a:rPr sz="4500" spc="-8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amount</a:t>
            </a:r>
            <a:r>
              <a:rPr sz="4500" spc="7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-195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time.</a:t>
            </a:r>
            <a:endParaRPr sz="4500">
              <a:latin typeface="Times New Roman"/>
              <a:cs typeface="Times New Roman"/>
            </a:endParaRPr>
          </a:p>
          <a:p>
            <a:pPr marL="382270" indent="-368935">
              <a:lnSpc>
                <a:spcPct val="100000"/>
              </a:lnSpc>
              <a:spcBef>
                <a:spcPts val="1110"/>
              </a:spcBef>
              <a:buChar char="•"/>
              <a:tabLst>
                <a:tab pos="382270" algn="l"/>
              </a:tabLst>
            </a:pPr>
            <a:r>
              <a:rPr sz="4400" dirty="0">
                <a:latin typeface="Times New Roman"/>
                <a:cs typeface="Times New Roman"/>
              </a:rPr>
              <a:t>An</a:t>
            </a:r>
            <a:r>
              <a:rPr sz="4400" spc="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algorithm</a:t>
            </a:r>
            <a:r>
              <a:rPr sz="4400" spc="25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should</a:t>
            </a:r>
            <a:r>
              <a:rPr sz="4400" spc="1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be</a:t>
            </a:r>
            <a:r>
              <a:rPr sz="4400" spc="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efficient</a:t>
            </a:r>
            <a:r>
              <a:rPr sz="4400" spc="2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2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flexible.</a:t>
            </a:r>
            <a:endParaRPr sz="4400">
              <a:latin typeface="Times New Roman"/>
              <a:cs typeface="Times New Roman"/>
            </a:endParaRPr>
          </a:p>
          <a:p>
            <a:pPr marL="381635" indent="-368935">
              <a:lnSpc>
                <a:spcPct val="100000"/>
              </a:lnSpc>
              <a:spcBef>
                <a:spcPts val="1160"/>
              </a:spcBef>
              <a:buChar char="•"/>
              <a:tabLst>
                <a:tab pos="381635" algn="l"/>
              </a:tabLst>
            </a:pPr>
            <a:r>
              <a:rPr sz="4450" dirty="0">
                <a:latin typeface="Times New Roman"/>
                <a:cs typeface="Times New Roman"/>
              </a:rPr>
              <a:t>It</a:t>
            </a:r>
            <a:r>
              <a:rPr sz="4450" spc="-10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should</a:t>
            </a:r>
            <a:r>
              <a:rPr sz="4450" spc="6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use</a:t>
            </a:r>
            <a:r>
              <a:rPr sz="4450" spc="-11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less</a:t>
            </a:r>
            <a:r>
              <a:rPr sz="4450" spc="-10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memory</a:t>
            </a:r>
            <a:r>
              <a:rPr sz="4450" spc="12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space</a:t>
            </a:r>
            <a:r>
              <a:rPr sz="4450" spc="-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as</a:t>
            </a:r>
            <a:r>
              <a:rPr sz="4450" spc="-10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much</a:t>
            </a:r>
            <a:r>
              <a:rPr sz="4450" spc="3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as</a:t>
            </a:r>
            <a:r>
              <a:rPr sz="4450" spc="-125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possible.</a:t>
            </a:r>
            <a:endParaRPr sz="4450">
              <a:latin typeface="Times New Roman"/>
              <a:cs typeface="Times New Roman"/>
            </a:endParaRPr>
          </a:p>
          <a:p>
            <a:pPr marL="381635" indent="-368935">
              <a:lnSpc>
                <a:spcPct val="100000"/>
              </a:lnSpc>
              <a:spcBef>
                <a:spcPts val="1070"/>
              </a:spcBef>
              <a:buChar char="•"/>
              <a:tabLst>
                <a:tab pos="381635" algn="l"/>
              </a:tabLst>
            </a:pPr>
            <a:r>
              <a:rPr sz="4450" dirty="0">
                <a:latin typeface="Times New Roman"/>
                <a:cs typeface="Times New Roman"/>
              </a:rPr>
              <a:t>An</a:t>
            </a:r>
            <a:r>
              <a:rPr sz="4450" spc="-11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algorithm</a:t>
            </a:r>
            <a:r>
              <a:rPr sz="4450" spc="10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must terminate</a:t>
            </a:r>
            <a:r>
              <a:rPr sz="4450" spc="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after</a:t>
            </a:r>
            <a:r>
              <a:rPr sz="4450" spc="-3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</a:t>
            </a:r>
            <a:r>
              <a:rPr sz="4450" spc="-18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finite</a:t>
            </a:r>
            <a:r>
              <a:rPr sz="4450" spc="-5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number</a:t>
            </a:r>
            <a:r>
              <a:rPr sz="4450" spc="11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of</a:t>
            </a:r>
            <a:r>
              <a:rPr sz="4450" spc="-11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steps.</a:t>
            </a:r>
            <a:endParaRPr sz="4450">
              <a:latin typeface="Times New Roman"/>
              <a:cs typeface="Times New Roman"/>
            </a:endParaRPr>
          </a:p>
          <a:p>
            <a:pPr marL="384175" indent="-371475">
              <a:lnSpc>
                <a:spcPct val="100000"/>
              </a:lnSpc>
              <a:spcBef>
                <a:spcPts val="1060"/>
              </a:spcBef>
              <a:buChar char="•"/>
              <a:tabLst>
                <a:tab pos="384175" algn="l"/>
              </a:tabLst>
            </a:pPr>
            <a:r>
              <a:rPr sz="4500" dirty="0">
                <a:latin typeface="Times New Roman"/>
                <a:cs typeface="Times New Roman"/>
              </a:rPr>
              <a:t>Each</a:t>
            </a:r>
            <a:r>
              <a:rPr sz="4500" spc="-13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step</a:t>
            </a:r>
            <a:r>
              <a:rPr sz="4500" spc="-1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</a:t>
            </a:r>
            <a:r>
              <a:rPr sz="4500" spc="-24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spc="-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must</a:t>
            </a:r>
            <a:r>
              <a:rPr sz="4500" spc="-3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</a:t>
            </a:r>
            <a:r>
              <a:rPr sz="4500" spc="-16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easily</a:t>
            </a:r>
            <a:r>
              <a:rPr sz="4500" spc="-10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understood.</a:t>
            </a:r>
            <a:endParaRPr sz="4500">
              <a:latin typeface="Times New Roman"/>
              <a:cs typeface="Times New Roman"/>
            </a:endParaRPr>
          </a:p>
          <a:p>
            <a:pPr marL="382270" indent="-369570">
              <a:lnSpc>
                <a:spcPts val="5170"/>
              </a:lnSpc>
              <a:spcBef>
                <a:spcPts val="1050"/>
              </a:spcBef>
              <a:buChar char="•"/>
              <a:tabLst>
                <a:tab pos="382270" algn="l"/>
                <a:tab pos="3673475" algn="l"/>
                <a:tab pos="5388610" algn="l"/>
                <a:tab pos="8014970" algn="l"/>
                <a:tab pos="9034780" algn="l"/>
                <a:tab pos="11153775" algn="l"/>
                <a:tab pos="13973810" algn="l"/>
                <a:tab pos="16778605" algn="l"/>
              </a:tabLst>
            </a:pPr>
            <a:r>
              <a:rPr sz="4500" dirty="0">
                <a:latin typeface="Times New Roman"/>
                <a:cs typeface="Times New Roman"/>
              </a:rPr>
              <a:t>An</a:t>
            </a:r>
            <a:r>
              <a:rPr sz="4500" spc="32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dirty="0">
                <a:latin typeface="Times New Roman"/>
                <a:cs typeface="Times New Roman"/>
              </a:rPr>
              <a:t>	</a:t>
            </a:r>
            <a:r>
              <a:rPr sz="4500" spc="-10" dirty="0">
                <a:latin typeface="Times New Roman"/>
                <a:cs typeface="Times New Roman"/>
              </a:rPr>
              <a:t>should</a:t>
            </a:r>
            <a:r>
              <a:rPr sz="4500" dirty="0">
                <a:latin typeface="Times New Roman"/>
                <a:cs typeface="Times New Roman"/>
              </a:rPr>
              <a:t>	be</a:t>
            </a:r>
            <a:r>
              <a:rPr sz="4500" spc="3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concise</a:t>
            </a:r>
            <a:r>
              <a:rPr sz="4500" dirty="0">
                <a:latin typeface="Times New Roman"/>
                <a:cs typeface="Times New Roman"/>
              </a:rPr>
              <a:t>	</a:t>
            </a:r>
            <a:r>
              <a:rPr sz="4500" spc="-25" dirty="0">
                <a:latin typeface="Times New Roman"/>
                <a:cs typeface="Times New Roman"/>
              </a:rPr>
              <a:t>and</a:t>
            </a:r>
            <a:r>
              <a:rPr sz="4500" dirty="0">
                <a:latin typeface="Times New Roman"/>
                <a:cs typeface="Times New Roman"/>
              </a:rPr>
              <a:t>	</a:t>
            </a:r>
            <a:r>
              <a:rPr sz="4500" spc="-10" dirty="0">
                <a:latin typeface="Times New Roman"/>
                <a:cs typeface="Times New Roman"/>
              </a:rPr>
              <a:t>compact</a:t>
            </a:r>
            <a:r>
              <a:rPr sz="4500" dirty="0">
                <a:latin typeface="Times New Roman"/>
                <a:cs typeface="Times New Roman"/>
              </a:rPr>
              <a:t>	to</a:t>
            </a:r>
            <a:r>
              <a:rPr sz="4500" spc="409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facilitate</a:t>
            </a:r>
            <a:r>
              <a:rPr sz="4500" dirty="0">
                <a:latin typeface="Times New Roman"/>
                <a:cs typeface="Times New Roman"/>
              </a:rPr>
              <a:t>	</a:t>
            </a:r>
            <a:r>
              <a:rPr sz="4500" spc="-10" dirty="0">
                <a:latin typeface="Times New Roman"/>
                <a:cs typeface="Times New Roman"/>
              </a:rPr>
              <a:t>verification</a:t>
            </a:r>
            <a:r>
              <a:rPr sz="4500" dirty="0">
                <a:latin typeface="Times New Roman"/>
                <a:cs typeface="Times New Roman"/>
              </a:rPr>
              <a:t>	of</a:t>
            </a:r>
            <a:r>
              <a:rPr sz="4500" spc="365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their</a:t>
            </a:r>
            <a:endParaRPr sz="4500">
              <a:latin typeface="Times New Roman"/>
              <a:cs typeface="Times New Roman"/>
            </a:endParaRPr>
          </a:p>
          <a:p>
            <a:pPr marL="377190">
              <a:lnSpc>
                <a:spcPts val="5050"/>
              </a:lnSpc>
            </a:pPr>
            <a:r>
              <a:rPr sz="4400" spc="-10" dirty="0">
                <a:latin typeface="Times New Roman"/>
                <a:cs typeface="Times New Roman"/>
              </a:rPr>
              <a:t>correctness.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6425" y="5695950"/>
            <a:ext cx="10010775" cy="51625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20600" y="476250"/>
            <a:ext cx="885825" cy="71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1051" y="149225"/>
            <a:ext cx="11838940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950" dirty="0"/>
              <a:t>Two</a:t>
            </a:r>
            <a:r>
              <a:rPr sz="7950" spc="385" dirty="0"/>
              <a:t> </a:t>
            </a:r>
            <a:r>
              <a:rPr sz="7950" spc="75" dirty="0"/>
              <a:t>main</a:t>
            </a:r>
            <a:r>
              <a:rPr sz="7950" spc="305" dirty="0"/>
              <a:t> </a:t>
            </a:r>
            <a:r>
              <a:rPr sz="7950" spc="120" dirty="0"/>
              <a:t>tasks</a:t>
            </a:r>
            <a:r>
              <a:rPr sz="7950" spc="5" dirty="0"/>
              <a:t> </a:t>
            </a:r>
            <a:r>
              <a:rPr sz="7950" spc="60" dirty="0"/>
              <a:t>in</a:t>
            </a:r>
            <a:r>
              <a:rPr sz="7950" spc="135" dirty="0"/>
              <a:t> </a:t>
            </a:r>
            <a:r>
              <a:rPr sz="7950" spc="155" dirty="0"/>
              <a:t>the</a:t>
            </a:r>
            <a:r>
              <a:rPr sz="7950" spc="-100" dirty="0"/>
              <a:t> </a:t>
            </a:r>
            <a:r>
              <a:rPr sz="7950" spc="125" dirty="0"/>
              <a:t>study</a:t>
            </a:r>
            <a:endParaRPr sz="7950"/>
          </a:p>
        </p:txBody>
      </p:sp>
      <p:sp>
        <p:nvSpPr>
          <p:cNvPr id="5" name="object 5"/>
          <p:cNvSpPr txBox="1"/>
          <p:nvPr/>
        </p:nvSpPr>
        <p:spPr>
          <a:xfrm>
            <a:off x="13400138" y="149225"/>
            <a:ext cx="504253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950" spc="45" dirty="0">
                <a:latin typeface="Times New Roman"/>
                <a:cs typeface="Times New Roman"/>
              </a:rPr>
              <a:t>Algorithms:</a:t>
            </a:r>
            <a:endParaRPr sz="7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146" y="1416050"/>
            <a:ext cx="5660390" cy="16732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82270" indent="-369570">
              <a:lnSpc>
                <a:spcPct val="100000"/>
              </a:lnSpc>
              <a:spcBef>
                <a:spcPts val="1185"/>
              </a:spcBef>
              <a:buChar char="•"/>
              <a:tabLst>
                <a:tab pos="382270" algn="l"/>
              </a:tabLst>
            </a:pPr>
            <a:r>
              <a:rPr sz="4500" spc="-20" dirty="0">
                <a:latin typeface="Times New Roman"/>
                <a:cs typeface="Times New Roman"/>
              </a:rPr>
              <a:t>Algorithm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Design</a:t>
            </a:r>
            <a:endParaRPr sz="4500">
              <a:latin typeface="Times New Roman"/>
              <a:cs typeface="Times New Roman"/>
            </a:endParaRPr>
          </a:p>
          <a:p>
            <a:pPr marL="382270" indent="-369570">
              <a:lnSpc>
                <a:spcPct val="100000"/>
              </a:lnSpc>
              <a:spcBef>
                <a:spcPts val="1090"/>
              </a:spcBef>
              <a:buChar char="•"/>
              <a:tabLst>
                <a:tab pos="382270" algn="l"/>
              </a:tabLst>
            </a:pPr>
            <a:r>
              <a:rPr sz="4500" dirty="0">
                <a:latin typeface="Times New Roman"/>
                <a:cs typeface="Times New Roman"/>
              </a:rPr>
              <a:t>Analysis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of</a:t>
            </a:r>
            <a:r>
              <a:rPr sz="4500" spc="-260" dirty="0">
                <a:latin typeface="Times New Roman"/>
                <a:cs typeface="Times New Roman"/>
              </a:rPr>
              <a:t> </a:t>
            </a:r>
            <a:r>
              <a:rPr sz="4500" spc="-35" dirty="0">
                <a:latin typeface="Times New Roman"/>
                <a:cs typeface="Times New Roman"/>
              </a:rPr>
              <a:t>Algorithms</a:t>
            </a:r>
            <a:endParaRPr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457200"/>
            <a:ext cx="7781925" cy="9810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2950" y="447675"/>
            <a:ext cx="6686550" cy="1000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21225" y="79375"/>
            <a:ext cx="951674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3264" algn="l"/>
                <a:tab pos="5370830" algn="l"/>
                <a:tab pos="8218805" algn="l"/>
              </a:tabLst>
            </a:pPr>
            <a:r>
              <a:rPr sz="8800" spc="-25" dirty="0"/>
              <a:t>ow</a:t>
            </a:r>
            <a:r>
              <a:rPr sz="8800" dirty="0"/>
              <a:t>	o</a:t>
            </a:r>
            <a:r>
              <a:rPr sz="8800" spc="-100" dirty="0"/>
              <a:t> </a:t>
            </a:r>
            <a:r>
              <a:rPr sz="8800" spc="250" dirty="0"/>
              <a:t>ana</a:t>
            </a:r>
            <a:r>
              <a:rPr sz="8800" dirty="0"/>
              <a:t>	</a:t>
            </a:r>
            <a:r>
              <a:rPr sz="8800" spc="-25" dirty="0"/>
              <a:t>ze</a:t>
            </a:r>
            <a:r>
              <a:rPr sz="8800" dirty="0"/>
              <a:t>	e</a:t>
            </a:r>
            <a:r>
              <a:rPr sz="8800" spc="-100" dirty="0"/>
              <a:t> </a:t>
            </a:r>
            <a:r>
              <a:rPr sz="8800" spc="145" dirty="0"/>
              <a:t>a</a:t>
            </a:r>
            <a:endParaRPr sz="8800"/>
          </a:p>
        </p:txBody>
      </p:sp>
      <p:sp>
        <p:nvSpPr>
          <p:cNvPr id="5" name="object 5"/>
          <p:cNvSpPr txBox="1"/>
          <p:nvPr/>
        </p:nvSpPr>
        <p:spPr>
          <a:xfrm>
            <a:off x="13836904" y="79375"/>
            <a:ext cx="14166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70" dirty="0">
                <a:latin typeface="Times New Roman"/>
                <a:cs typeface="Times New Roman"/>
              </a:rPr>
              <a:t>m?</a:t>
            </a:r>
            <a:endParaRPr sz="8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935" y="1368425"/>
            <a:ext cx="13263244" cy="677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19400"/>
              </a:lnSpc>
              <a:spcBef>
                <a:spcPts val="100"/>
              </a:spcBef>
            </a:pPr>
            <a:r>
              <a:rPr sz="4500" spc="-35" dirty="0">
                <a:latin typeface="Times New Roman"/>
                <a:cs typeface="Times New Roman"/>
              </a:rPr>
              <a:t>Algorithm</a:t>
            </a:r>
            <a:r>
              <a:rPr sz="4500" spc="114" dirty="0">
                <a:latin typeface="Times New Roman"/>
                <a:cs typeface="Times New Roman"/>
              </a:rPr>
              <a:t> </a:t>
            </a:r>
            <a:r>
              <a:rPr sz="4500" spc="-30" dirty="0">
                <a:latin typeface="Times New Roman"/>
                <a:cs typeface="Times New Roman"/>
              </a:rPr>
              <a:t>efficiency</a:t>
            </a:r>
            <a:r>
              <a:rPr sz="4500" spc="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can</a:t>
            </a:r>
            <a:r>
              <a:rPr sz="4500" spc="-10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</a:t>
            </a:r>
            <a:r>
              <a:rPr sz="4500" spc="-185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measured</a:t>
            </a:r>
            <a:r>
              <a:rPr sz="4500" spc="8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by</a:t>
            </a:r>
            <a:r>
              <a:rPr sz="4500" spc="-2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two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aspects; </a:t>
            </a:r>
            <a:r>
              <a:rPr sz="4500" spc="185" dirty="0">
                <a:latin typeface="Times New Roman"/>
                <a:cs typeface="Times New Roman"/>
              </a:rPr>
              <a:t>STime</a:t>
            </a:r>
            <a:r>
              <a:rPr sz="4500" spc="220" dirty="0">
                <a:latin typeface="Times New Roman"/>
                <a:cs typeface="Times New Roman"/>
              </a:rPr>
              <a:t> </a:t>
            </a:r>
            <a:r>
              <a:rPr sz="4500" spc="55" dirty="0">
                <a:latin typeface="Times New Roman"/>
                <a:cs typeface="Times New Roman"/>
              </a:rPr>
              <a:t>Complexity:</a:t>
            </a:r>
            <a:r>
              <a:rPr sz="4500" spc="4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Given</a:t>
            </a:r>
            <a:r>
              <a:rPr sz="4500" spc="285" dirty="0">
                <a:latin typeface="Times New Roman"/>
                <a:cs typeface="Times New Roman"/>
              </a:rPr>
              <a:t> </a:t>
            </a:r>
            <a:r>
              <a:rPr sz="4500" spc="50" dirty="0">
                <a:latin typeface="Times New Roman"/>
                <a:cs typeface="Times New Roman"/>
              </a:rPr>
              <a:t>in</a:t>
            </a:r>
            <a:r>
              <a:rPr sz="4500" spc="125" dirty="0">
                <a:latin typeface="Times New Roman"/>
                <a:cs typeface="Times New Roman"/>
              </a:rPr>
              <a:t> </a:t>
            </a:r>
            <a:r>
              <a:rPr sz="4500" spc="135" dirty="0">
                <a:latin typeface="Times New Roman"/>
                <a:cs typeface="Times New Roman"/>
              </a:rPr>
              <a:t>terms</a:t>
            </a:r>
            <a:r>
              <a:rPr sz="4500" spc="9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170" dirty="0">
                <a:latin typeface="Times New Roman"/>
                <a:cs typeface="Times New Roman"/>
              </a:rPr>
              <a:t> </a:t>
            </a:r>
            <a:r>
              <a:rPr sz="4500" spc="60" dirty="0">
                <a:latin typeface="Times New Roman"/>
                <a:cs typeface="Times New Roman"/>
              </a:rPr>
              <a:t>frequency</a:t>
            </a:r>
            <a:r>
              <a:rPr sz="4500" spc="400" dirty="0">
                <a:latin typeface="Times New Roman"/>
                <a:cs typeface="Times New Roman"/>
              </a:rPr>
              <a:t> </a:t>
            </a:r>
            <a:r>
              <a:rPr sz="4500" spc="45" dirty="0">
                <a:latin typeface="Times New Roman"/>
                <a:cs typeface="Times New Roman"/>
              </a:rPr>
              <a:t>count</a:t>
            </a:r>
            <a:endParaRPr sz="4500">
              <a:latin typeface="Times New Roman"/>
              <a:cs typeface="Times New Roman"/>
            </a:endParaRPr>
          </a:p>
          <a:p>
            <a:pPr marL="1106805" indent="-368935">
              <a:lnSpc>
                <a:spcPct val="100000"/>
              </a:lnSpc>
              <a:spcBef>
                <a:spcPts val="190"/>
              </a:spcBef>
              <a:buChar char="•"/>
              <a:tabLst>
                <a:tab pos="1106805" algn="l"/>
              </a:tabLst>
            </a:pPr>
            <a:r>
              <a:rPr sz="4500" spc="-35" dirty="0">
                <a:latin typeface="Times New Roman"/>
                <a:cs typeface="Times New Roman"/>
              </a:rPr>
              <a:t>Instructions</a:t>
            </a:r>
            <a:r>
              <a:rPr sz="4500" spc="4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take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time.</a:t>
            </a:r>
            <a:endParaRPr sz="4500">
              <a:latin typeface="Times New Roman"/>
              <a:cs typeface="Times New Roman"/>
            </a:endParaRPr>
          </a:p>
          <a:p>
            <a:pPr marL="1102360" indent="-363855">
              <a:lnSpc>
                <a:spcPct val="100000"/>
              </a:lnSpc>
              <a:spcBef>
                <a:spcPts val="310"/>
              </a:spcBef>
              <a:buChar char="•"/>
              <a:tabLst>
                <a:tab pos="1102360" algn="l"/>
              </a:tabLst>
            </a:pPr>
            <a:r>
              <a:rPr sz="4450" dirty="0">
                <a:latin typeface="Times New Roman"/>
                <a:cs typeface="Times New Roman"/>
              </a:rPr>
              <a:t>How</a:t>
            </a:r>
            <a:r>
              <a:rPr sz="4450" spc="-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fast</a:t>
            </a:r>
            <a:r>
              <a:rPr sz="4450" spc="-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does</a:t>
            </a:r>
            <a:r>
              <a:rPr sz="4450" spc="-5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the</a:t>
            </a:r>
            <a:r>
              <a:rPr sz="4450" spc="-114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algorithm</a:t>
            </a:r>
            <a:r>
              <a:rPr sz="4450" spc="11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perform?</a:t>
            </a:r>
            <a:endParaRPr sz="4450">
              <a:latin typeface="Times New Roman"/>
              <a:cs typeface="Times New Roman"/>
            </a:endParaRPr>
          </a:p>
          <a:p>
            <a:pPr marL="1104265" indent="-365760">
              <a:lnSpc>
                <a:spcPct val="100000"/>
              </a:lnSpc>
              <a:spcBef>
                <a:spcPts val="285"/>
              </a:spcBef>
              <a:buChar char="•"/>
              <a:tabLst>
                <a:tab pos="1104265" algn="l"/>
              </a:tabLst>
            </a:pPr>
            <a:r>
              <a:rPr sz="4450" dirty="0">
                <a:latin typeface="Times New Roman"/>
                <a:cs typeface="Times New Roman"/>
              </a:rPr>
              <a:t>What</a:t>
            </a:r>
            <a:r>
              <a:rPr sz="4450" spc="-5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affects</a:t>
            </a:r>
            <a:r>
              <a:rPr sz="4450" spc="-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its</a:t>
            </a:r>
            <a:r>
              <a:rPr sz="4450" spc="-14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runtime?</a:t>
            </a:r>
            <a:endParaRPr sz="445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1060"/>
              </a:spcBef>
            </a:pPr>
            <a:r>
              <a:rPr sz="4500" dirty="0">
                <a:latin typeface="Times New Roman"/>
                <a:cs typeface="Times New Roman"/>
              </a:rPr>
              <a:t>7•Space</a:t>
            </a:r>
            <a:r>
              <a:rPr sz="4500" spc="170" dirty="0">
                <a:latin typeface="Times New Roman"/>
                <a:cs typeface="Times New Roman"/>
              </a:rPr>
              <a:t> </a:t>
            </a:r>
            <a:r>
              <a:rPr sz="4500" spc="55" dirty="0">
                <a:latin typeface="Times New Roman"/>
                <a:cs typeface="Times New Roman"/>
              </a:rPr>
              <a:t>Complexity:</a:t>
            </a:r>
            <a:r>
              <a:rPr sz="4500" spc="125" dirty="0">
                <a:latin typeface="Times New Roman"/>
                <a:cs typeface="Times New Roman"/>
              </a:rPr>
              <a:t> </a:t>
            </a:r>
            <a:r>
              <a:rPr sz="4500" spc="90" dirty="0">
                <a:latin typeface="Times New Roman"/>
                <a:cs typeface="Times New Roman"/>
              </a:rPr>
              <a:t>Amount</a:t>
            </a:r>
            <a:r>
              <a:rPr sz="4500" spc="25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145" dirty="0">
                <a:latin typeface="Times New Roman"/>
                <a:cs typeface="Times New Roman"/>
              </a:rPr>
              <a:t> </a:t>
            </a:r>
            <a:r>
              <a:rPr sz="4500" spc="75" dirty="0">
                <a:latin typeface="Times New Roman"/>
                <a:cs typeface="Times New Roman"/>
              </a:rPr>
              <a:t>memory</a:t>
            </a:r>
            <a:r>
              <a:rPr sz="4500" spc="190" dirty="0">
                <a:latin typeface="Times New Roman"/>
                <a:cs typeface="Times New Roman"/>
              </a:rPr>
              <a:t> </a:t>
            </a:r>
            <a:r>
              <a:rPr sz="4500" spc="100" dirty="0">
                <a:latin typeface="Times New Roman"/>
                <a:cs typeface="Times New Roman"/>
              </a:rPr>
              <a:t>required</a:t>
            </a:r>
            <a:endParaRPr sz="4500">
              <a:latin typeface="Times New Roman"/>
              <a:cs typeface="Times New Roman"/>
            </a:endParaRPr>
          </a:p>
          <a:p>
            <a:pPr marL="1102360" indent="-363855">
              <a:lnSpc>
                <a:spcPct val="100000"/>
              </a:lnSpc>
              <a:spcBef>
                <a:spcPts val="275"/>
              </a:spcBef>
              <a:buChar char="•"/>
              <a:tabLst>
                <a:tab pos="1102360" algn="l"/>
              </a:tabLst>
            </a:pPr>
            <a:r>
              <a:rPr sz="4450" dirty="0">
                <a:latin typeface="Times New Roman"/>
                <a:cs typeface="Times New Roman"/>
              </a:rPr>
              <a:t>Data</a:t>
            </a:r>
            <a:r>
              <a:rPr sz="4450" spc="-8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structure</a:t>
            </a:r>
            <a:r>
              <a:rPr sz="4450" spc="10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take</a:t>
            </a:r>
            <a:r>
              <a:rPr sz="4450" spc="-105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space.</a:t>
            </a:r>
            <a:endParaRPr sz="4450">
              <a:latin typeface="Times New Roman"/>
              <a:cs typeface="Times New Roman"/>
            </a:endParaRPr>
          </a:p>
          <a:p>
            <a:pPr marL="1104265" indent="-365760">
              <a:lnSpc>
                <a:spcPct val="100000"/>
              </a:lnSpc>
              <a:spcBef>
                <a:spcPts val="325"/>
              </a:spcBef>
              <a:buChar char="•"/>
              <a:tabLst>
                <a:tab pos="1104265" algn="l"/>
              </a:tabLst>
            </a:pPr>
            <a:r>
              <a:rPr sz="4450" dirty="0">
                <a:latin typeface="Times New Roman"/>
                <a:cs typeface="Times New Roman"/>
              </a:rPr>
              <a:t>What</a:t>
            </a:r>
            <a:r>
              <a:rPr sz="4450" spc="5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kind</a:t>
            </a:r>
            <a:r>
              <a:rPr sz="4450" spc="-4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of</a:t>
            </a:r>
            <a:r>
              <a:rPr sz="4450" spc="-10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data</a:t>
            </a:r>
            <a:r>
              <a:rPr sz="4450" spc="-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structure</a:t>
            </a:r>
            <a:r>
              <a:rPr sz="4450" spc="7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can</a:t>
            </a:r>
            <a:r>
              <a:rPr sz="4450" spc="-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be</a:t>
            </a:r>
            <a:r>
              <a:rPr sz="4450" spc="-7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used?</a:t>
            </a:r>
            <a:endParaRPr sz="4450">
              <a:latin typeface="Times New Roman"/>
              <a:cs typeface="Times New Roman"/>
            </a:endParaRPr>
          </a:p>
          <a:p>
            <a:pPr marL="1101725" indent="-363855">
              <a:lnSpc>
                <a:spcPct val="100000"/>
              </a:lnSpc>
              <a:spcBef>
                <a:spcPts val="234"/>
              </a:spcBef>
              <a:buChar char="•"/>
              <a:tabLst>
                <a:tab pos="1101725" algn="l"/>
              </a:tabLst>
            </a:pPr>
            <a:r>
              <a:rPr sz="4500" dirty="0">
                <a:latin typeface="Times New Roman"/>
                <a:cs typeface="Times New Roman"/>
              </a:rPr>
              <a:t>How</a:t>
            </a:r>
            <a:r>
              <a:rPr sz="4500" spc="-1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does</a:t>
            </a:r>
            <a:r>
              <a:rPr sz="4500" spc="-20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choice</a:t>
            </a:r>
            <a:r>
              <a:rPr sz="4500" spc="-1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-20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data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structure</a:t>
            </a:r>
            <a:r>
              <a:rPr sz="4500" spc="5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affect</a:t>
            </a:r>
            <a:r>
              <a:rPr sz="4500" spc="-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18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runtime?</a:t>
            </a:r>
            <a:endParaRPr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447675"/>
            <a:ext cx="10001250" cy="10001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0614" y="63500"/>
            <a:ext cx="588137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02990" algn="l"/>
              </a:tabLst>
            </a:pPr>
            <a:r>
              <a:rPr sz="9000" spc="-25" dirty="0"/>
              <a:t>ie</a:t>
            </a:r>
            <a:r>
              <a:rPr sz="9000" dirty="0"/>
              <a:t>	</a:t>
            </a:r>
            <a:r>
              <a:rPr sz="9000" spc="50" dirty="0"/>
              <a:t>ions:</a:t>
            </a:r>
            <a:endParaRPr sz="9000"/>
          </a:p>
        </p:txBody>
      </p:sp>
      <p:sp>
        <p:nvSpPr>
          <p:cNvPr id="4" name="object 4"/>
          <p:cNvSpPr txBox="1"/>
          <p:nvPr/>
        </p:nvSpPr>
        <p:spPr>
          <a:xfrm>
            <a:off x="394258" y="1368425"/>
            <a:ext cx="18493740" cy="780288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6670" algn="just">
              <a:lnSpc>
                <a:spcPct val="100000"/>
              </a:lnSpc>
              <a:spcBef>
                <a:spcPts val="1150"/>
              </a:spcBef>
            </a:pPr>
            <a:r>
              <a:rPr sz="4500" spc="50" dirty="0">
                <a:latin typeface="Times New Roman"/>
                <a:cs typeface="Times New Roman"/>
              </a:rPr>
              <a:t>S</a:t>
            </a:r>
            <a:r>
              <a:rPr sz="4500" spc="5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Given</a:t>
            </a:r>
            <a:r>
              <a:rPr sz="4500" spc="1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two</a:t>
            </a:r>
            <a:r>
              <a:rPr sz="4500" spc="-45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algorithms</a:t>
            </a:r>
            <a:r>
              <a:rPr sz="4500" spc="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for</a:t>
            </a:r>
            <a:r>
              <a:rPr sz="4500" spc="-14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task,</a:t>
            </a:r>
            <a:r>
              <a:rPr sz="4500" spc="-7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how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we</a:t>
            </a:r>
            <a:r>
              <a:rPr sz="4500" spc="-1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find</a:t>
            </a:r>
            <a:r>
              <a:rPr sz="4500" spc="-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out</a:t>
            </a:r>
            <a:r>
              <a:rPr sz="4500" spc="-8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which</a:t>
            </a:r>
            <a:r>
              <a:rPr sz="4500" spc="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one</a:t>
            </a:r>
            <a:r>
              <a:rPr sz="4500" spc="-3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-13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better?</a:t>
            </a:r>
            <a:endParaRPr sz="4500">
              <a:latin typeface="Times New Roman"/>
              <a:cs typeface="Times New Roman"/>
            </a:endParaRPr>
          </a:p>
          <a:p>
            <a:pPr marL="838835" indent="-824230" algn="just">
              <a:lnSpc>
                <a:spcPts val="5150"/>
              </a:lnSpc>
              <a:spcBef>
                <a:spcPts val="1050"/>
              </a:spcBef>
              <a:buAutoNum type="arabicPeriod"/>
              <a:tabLst>
                <a:tab pos="838835" algn="l"/>
              </a:tabLst>
            </a:pPr>
            <a:r>
              <a:rPr sz="4500" dirty="0">
                <a:latin typeface="Times New Roman"/>
                <a:cs typeface="Times New Roman"/>
              </a:rPr>
              <a:t>It</a:t>
            </a:r>
            <a:r>
              <a:rPr sz="4500" spc="-10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might</a:t>
            </a:r>
            <a:r>
              <a:rPr sz="4500" spc="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</a:t>
            </a:r>
            <a:r>
              <a:rPr sz="4500" spc="-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possible</a:t>
            </a:r>
            <a:r>
              <a:rPr sz="4500" spc="9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-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for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some</a:t>
            </a:r>
            <a:r>
              <a:rPr sz="4500" spc="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inputs,</a:t>
            </a:r>
            <a:r>
              <a:rPr sz="4500" spc="-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first</a:t>
            </a:r>
            <a:r>
              <a:rPr sz="4500" spc="-9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spc="114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performs</a:t>
            </a:r>
            <a:r>
              <a:rPr sz="4500" spc="1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better</a:t>
            </a:r>
            <a:r>
              <a:rPr sz="4500" spc="40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than</a:t>
            </a:r>
            <a:endParaRPr sz="4500">
              <a:latin typeface="Times New Roman"/>
              <a:cs typeface="Times New Roman"/>
            </a:endParaRPr>
          </a:p>
          <a:p>
            <a:pPr marL="838200" algn="just">
              <a:lnSpc>
                <a:spcPts val="5030"/>
              </a:lnSpc>
            </a:pPr>
            <a:r>
              <a:rPr sz="4400" dirty="0">
                <a:latin typeface="Times New Roman"/>
                <a:cs typeface="Times New Roman"/>
              </a:rPr>
              <a:t>the</a:t>
            </a:r>
            <a:r>
              <a:rPr sz="4400" spc="6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second.</a:t>
            </a:r>
            <a:r>
              <a:rPr sz="4400" spc="-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204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for</a:t>
            </a:r>
            <a:r>
              <a:rPr sz="4400" spc="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some</a:t>
            </a:r>
            <a:r>
              <a:rPr sz="4400" spc="24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inputs</a:t>
            </a:r>
            <a:r>
              <a:rPr sz="4400" spc="8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second</a:t>
            </a:r>
            <a:r>
              <a:rPr sz="4400" spc="204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performs</a:t>
            </a:r>
            <a:r>
              <a:rPr sz="4400" spc="28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better.</a:t>
            </a:r>
            <a:endParaRPr sz="4400">
              <a:latin typeface="Times New Roman"/>
              <a:cs typeface="Times New Roman"/>
            </a:endParaRPr>
          </a:p>
          <a:p>
            <a:pPr marL="832485" marR="8890" indent="-820419" algn="just">
              <a:lnSpc>
                <a:spcPts val="4840"/>
              </a:lnSpc>
              <a:spcBef>
                <a:spcPts val="1695"/>
              </a:spcBef>
              <a:buAutoNum type="arabicPeriod" startAt="2"/>
              <a:tabLst>
                <a:tab pos="835025" algn="l"/>
              </a:tabLst>
            </a:pPr>
            <a:r>
              <a:rPr sz="4450" dirty="0">
                <a:latin typeface="Times New Roman"/>
                <a:cs typeface="Times New Roman"/>
              </a:rPr>
              <a:t>Or</a:t>
            </a:r>
            <a:r>
              <a:rPr sz="4450" spc="68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it</a:t>
            </a:r>
            <a:r>
              <a:rPr sz="4450" spc="66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might</a:t>
            </a:r>
            <a:r>
              <a:rPr sz="4450" spc="83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also</a:t>
            </a:r>
            <a:r>
              <a:rPr sz="4450" spc="75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be</a:t>
            </a:r>
            <a:r>
              <a:rPr sz="4450" spc="69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possible</a:t>
            </a:r>
            <a:r>
              <a:rPr sz="4450" spc="77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that</a:t>
            </a:r>
            <a:r>
              <a:rPr sz="4450" spc="73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for</a:t>
            </a:r>
            <a:r>
              <a:rPr sz="4450" spc="68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some</a:t>
            </a:r>
            <a:r>
              <a:rPr sz="4450" spc="81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inputs,</a:t>
            </a:r>
            <a:r>
              <a:rPr sz="4450" spc="78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first</a:t>
            </a:r>
            <a:r>
              <a:rPr sz="4450" spc="69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algorithm</a:t>
            </a:r>
            <a:r>
              <a:rPr sz="4450" spc="86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perform 	</a:t>
            </a:r>
            <a:r>
              <a:rPr sz="4500" dirty="0">
                <a:latin typeface="Times New Roman"/>
                <a:cs typeface="Times New Roman"/>
              </a:rPr>
              <a:t>better</a:t>
            </a:r>
            <a:r>
              <a:rPr sz="4500" spc="6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on</a:t>
            </a:r>
            <a:r>
              <a:rPr sz="4500" spc="59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one</a:t>
            </a:r>
            <a:r>
              <a:rPr sz="4500" spc="64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machine</a:t>
            </a:r>
            <a:r>
              <a:rPr sz="4500" spc="70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and</a:t>
            </a:r>
            <a:r>
              <a:rPr sz="4500" spc="70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5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second</a:t>
            </a:r>
            <a:r>
              <a:rPr sz="4500" spc="68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works</a:t>
            </a:r>
            <a:r>
              <a:rPr sz="4500" spc="7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better</a:t>
            </a:r>
            <a:r>
              <a:rPr sz="4500" spc="7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on</a:t>
            </a:r>
            <a:r>
              <a:rPr sz="4500" spc="59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other</a:t>
            </a:r>
            <a:r>
              <a:rPr sz="4500" spc="64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machine</a:t>
            </a:r>
            <a:r>
              <a:rPr sz="4500" spc="690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for 	</a:t>
            </a:r>
            <a:r>
              <a:rPr sz="4450" dirty="0">
                <a:latin typeface="Times New Roman"/>
                <a:cs typeface="Times New Roman"/>
              </a:rPr>
              <a:t>some</a:t>
            </a:r>
            <a:r>
              <a:rPr sz="4450" spc="-3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other</a:t>
            </a:r>
            <a:r>
              <a:rPr sz="4450" spc="10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inputs.</a:t>
            </a:r>
            <a:endParaRPr sz="4450">
              <a:latin typeface="Times New Roman"/>
              <a:cs typeface="Times New Roman"/>
            </a:endParaRPr>
          </a:p>
          <a:p>
            <a:pPr marL="375920" marR="7620" indent="-323215" algn="just">
              <a:lnSpc>
                <a:spcPts val="4840"/>
              </a:lnSpc>
              <a:spcBef>
                <a:spcPts val="1605"/>
              </a:spcBef>
            </a:pPr>
            <a:r>
              <a:rPr sz="4500" dirty="0">
                <a:latin typeface="Times New Roman"/>
                <a:cs typeface="Times New Roman"/>
              </a:rPr>
              <a:t>R</a:t>
            </a:r>
            <a:r>
              <a:rPr sz="4500" spc="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So Asymptotic</a:t>
            </a:r>
            <a:r>
              <a:rPr sz="4500" spc="20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Notation</a:t>
            </a:r>
            <a:r>
              <a:rPr sz="4500" spc="229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big</a:t>
            </a:r>
            <a:r>
              <a:rPr sz="4500" spc="-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idea</a:t>
            </a:r>
            <a:r>
              <a:rPr sz="4500" spc="3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6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handles</a:t>
            </a:r>
            <a:r>
              <a:rPr sz="4500" spc="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above</a:t>
            </a:r>
            <a:r>
              <a:rPr sz="4500" spc="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issues</a:t>
            </a:r>
            <a:r>
              <a:rPr sz="4500" spc="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</a:t>
            </a:r>
            <a:r>
              <a:rPr sz="4500" spc="-9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analysing </a:t>
            </a:r>
            <a:r>
              <a:rPr sz="4450" dirty="0">
                <a:latin typeface="Times New Roman"/>
                <a:cs typeface="Times New Roman"/>
              </a:rPr>
              <a:t>algorithms.</a:t>
            </a:r>
            <a:r>
              <a:rPr sz="4450" spc="26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In</a:t>
            </a:r>
            <a:r>
              <a:rPr sz="4450" spc="180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Asymptotic</a:t>
            </a:r>
            <a:r>
              <a:rPr sz="4450" spc="29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Analysis,</a:t>
            </a:r>
            <a:r>
              <a:rPr sz="4450" spc="27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we</a:t>
            </a:r>
            <a:r>
              <a:rPr sz="4450" spc="19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evaluate</a:t>
            </a:r>
            <a:r>
              <a:rPr sz="4450" spc="260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the</a:t>
            </a:r>
            <a:r>
              <a:rPr sz="4450" spc="17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performance</a:t>
            </a:r>
            <a:r>
              <a:rPr sz="4450" spc="335" dirty="0">
                <a:latin typeface="Times New Roman"/>
                <a:cs typeface="Times New Roman"/>
              </a:rPr>
              <a:t>  </a:t>
            </a:r>
            <a:r>
              <a:rPr sz="4450" dirty="0">
                <a:latin typeface="Times New Roman"/>
                <a:cs typeface="Times New Roman"/>
              </a:rPr>
              <a:t>of</a:t>
            </a:r>
            <a:r>
              <a:rPr sz="4450" spc="145" dirty="0">
                <a:latin typeface="Times New Roman"/>
                <a:cs typeface="Times New Roman"/>
              </a:rPr>
              <a:t>  </a:t>
            </a:r>
            <a:r>
              <a:rPr sz="4450" spc="-25" dirty="0">
                <a:latin typeface="Times New Roman"/>
                <a:cs typeface="Times New Roman"/>
              </a:rPr>
              <a:t>an </a:t>
            </a:r>
            <a:r>
              <a:rPr sz="4500" spc="-10" dirty="0">
                <a:latin typeface="Times New Roman"/>
                <a:cs typeface="Times New Roman"/>
              </a:rPr>
              <a:t>algorithm</a:t>
            </a:r>
            <a:r>
              <a:rPr sz="4500" spc="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</a:t>
            </a:r>
            <a:r>
              <a:rPr sz="4500" spc="-1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terms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input</a:t>
            </a:r>
            <a:r>
              <a:rPr sz="4500" spc="-9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size.</a:t>
            </a:r>
            <a:endParaRPr sz="4500">
              <a:latin typeface="Times New Roman"/>
              <a:cs typeface="Times New Roman"/>
            </a:endParaRPr>
          </a:p>
          <a:p>
            <a:pPr marL="375285" marR="27305" indent="-322580" algn="just">
              <a:lnSpc>
                <a:spcPts val="4840"/>
              </a:lnSpc>
              <a:spcBef>
                <a:spcPts val="1605"/>
              </a:spcBef>
            </a:pPr>
            <a:r>
              <a:rPr sz="4500" dirty="0">
                <a:latin typeface="Times New Roman"/>
                <a:cs typeface="Times New Roman"/>
              </a:rPr>
              <a:t>R</a:t>
            </a:r>
            <a:r>
              <a:rPr sz="4500" spc="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Using</a:t>
            </a:r>
            <a:r>
              <a:rPr sz="4500" spc="-110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Asymptotic</a:t>
            </a:r>
            <a:r>
              <a:rPr sz="4500" spc="-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Analysis</a:t>
            </a:r>
            <a:r>
              <a:rPr sz="4500" spc="-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we</a:t>
            </a:r>
            <a:r>
              <a:rPr sz="4500" spc="-2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can</a:t>
            </a:r>
            <a:r>
              <a:rPr sz="4500" spc="-17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very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well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conclude</a:t>
            </a:r>
            <a:r>
              <a:rPr sz="4500" spc="-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1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Best</a:t>
            </a:r>
            <a:r>
              <a:rPr sz="4500" spc="-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Case,</a:t>
            </a:r>
            <a:r>
              <a:rPr sz="4500" spc="-17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Average </a:t>
            </a:r>
            <a:r>
              <a:rPr sz="4500" dirty="0">
                <a:latin typeface="Times New Roman"/>
                <a:cs typeface="Times New Roman"/>
              </a:rPr>
              <a:t>Case,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and</a:t>
            </a:r>
            <a:r>
              <a:rPr sz="4500" spc="-185" dirty="0">
                <a:latin typeface="Times New Roman"/>
                <a:cs typeface="Times New Roman"/>
              </a:rPr>
              <a:t> </a:t>
            </a:r>
            <a:r>
              <a:rPr sz="4500" spc="-80" dirty="0">
                <a:latin typeface="Times New Roman"/>
                <a:cs typeface="Times New Roman"/>
              </a:rPr>
              <a:t>Worst</a:t>
            </a:r>
            <a:r>
              <a:rPr sz="4500" spc="-8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Case</a:t>
            </a:r>
            <a:r>
              <a:rPr sz="4500" spc="-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scenario</a:t>
            </a:r>
            <a:r>
              <a:rPr sz="4500" spc="-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-20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</a:t>
            </a:r>
            <a:r>
              <a:rPr sz="4500" spc="-229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algorithm.</a:t>
            </a:r>
            <a:endParaRPr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457200"/>
            <a:ext cx="4867275" cy="10001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5925" y="457200"/>
            <a:ext cx="8334375" cy="10001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69248" y="61912"/>
            <a:ext cx="7649845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60440" algn="l"/>
              </a:tabLst>
            </a:pPr>
            <a:r>
              <a:rPr spc="-25" dirty="0"/>
              <a:t>esi</a:t>
            </a:r>
            <a:r>
              <a:rPr dirty="0"/>
              <a:t>	</a:t>
            </a:r>
            <a:r>
              <a:rPr spc="-30" dirty="0"/>
              <a:t>ies: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7590" y="1460094"/>
            <a:ext cx="15601950" cy="465074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90"/>
              </a:spcBef>
            </a:pPr>
            <a:r>
              <a:rPr sz="4200" spc="-185" dirty="0">
                <a:latin typeface="Times New Roman"/>
                <a:cs typeface="Times New Roman"/>
              </a:rPr>
              <a:t>We</a:t>
            </a:r>
            <a:r>
              <a:rPr sz="4200" spc="-8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can</a:t>
            </a:r>
            <a:r>
              <a:rPr sz="4200" spc="-19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design</a:t>
            </a:r>
            <a:r>
              <a:rPr sz="4200" spc="-1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an</a:t>
            </a:r>
            <a:r>
              <a:rPr sz="4200" spc="-15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algorithm</a:t>
            </a:r>
            <a:r>
              <a:rPr sz="4200" spc="13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by</a:t>
            </a:r>
            <a:r>
              <a:rPr sz="4200" spc="-16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choose</a:t>
            </a:r>
            <a:r>
              <a:rPr sz="4200" spc="3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the</a:t>
            </a:r>
            <a:r>
              <a:rPr sz="4200" spc="-13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one</a:t>
            </a:r>
            <a:r>
              <a:rPr sz="4200" spc="-14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of</a:t>
            </a:r>
            <a:r>
              <a:rPr sz="4200" spc="-13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the</a:t>
            </a:r>
            <a:r>
              <a:rPr sz="4200" spc="-170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following</a:t>
            </a:r>
            <a:r>
              <a:rPr sz="4200" spc="55" dirty="0">
                <a:latin typeface="Times New Roman"/>
                <a:cs typeface="Times New Roman"/>
              </a:rPr>
              <a:t> </a:t>
            </a:r>
            <a:r>
              <a:rPr sz="4200" spc="-40" dirty="0">
                <a:latin typeface="Times New Roman"/>
                <a:cs typeface="Times New Roman"/>
              </a:rPr>
              <a:t>strategies:</a:t>
            </a:r>
            <a:endParaRPr sz="4200">
              <a:latin typeface="Times New Roman"/>
              <a:cs typeface="Times New Roman"/>
            </a:endParaRPr>
          </a:p>
          <a:p>
            <a:pPr marL="843915" indent="-826769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843915" algn="l"/>
              </a:tabLst>
            </a:pPr>
            <a:r>
              <a:rPr sz="4350" spc="-65" dirty="0">
                <a:latin typeface="Times New Roman"/>
                <a:cs typeface="Times New Roman"/>
              </a:rPr>
              <a:t>Divide</a:t>
            </a:r>
            <a:r>
              <a:rPr sz="4350" spc="-175" dirty="0">
                <a:latin typeface="Times New Roman"/>
                <a:cs typeface="Times New Roman"/>
              </a:rPr>
              <a:t> </a:t>
            </a:r>
            <a:r>
              <a:rPr sz="4350" spc="-65" dirty="0">
                <a:latin typeface="Times New Roman"/>
                <a:cs typeface="Times New Roman"/>
              </a:rPr>
              <a:t>and</a:t>
            </a:r>
            <a:r>
              <a:rPr sz="4350" spc="-204" dirty="0">
                <a:latin typeface="Times New Roman"/>
                <a:cs typeface="Times New Roman"/>
              </a:rPr>
              <a:t> </a:t>
            </a:r>
            <a:r>
              <a:rPr sz="4350" spc="-10" dirty="0">
                <a:latin typeface="Times New Roman"/>
                <a:cs typeface="Times New Roman"/>
              </a:rPr>
              <a:t>Conquer</a:t>
            </a:r>
            <a:endParaRPr sz="4350">
              <a:latin typeface="Times New Roman"/>
              <a:cs typeface="Times New Roman"/>
            </a:endParaRPr>
          </a:p>
          <a:p>
            <a:pPr marL="843915" indent="-830580">
              <a:lnSpc>
                <a:spcPct val="100000"/>
              </a:lnSpc>
              <a:spcBef>
                <a:spcPts val="905"/>
              </a:spcBef>
              <a:buAutoNum type="arabicPeriod"/>
              <a:tabLst>
                <a:tab pos="843915" algn="l"/>
              </a:tabLst>
            </a:pPr>
            <a:r>
              <a:rPr sz="4300" spc="-120" dirty="0">
                <a:latin typeface="Times New Roman"/>
                <a:cs typeface="Times New Roman"/>
              </a:rPr>
              <a:t>Greedy </a:t>
            </a:r>
            <a:r>
              <a:rPr sz="4300" spc="-10" dirty="0">
                <a:latin typeface="Times New Roman"/>
                <a:cs typeface="Times New Roman"/>
              </a:rPr>
              <a:t>Algorithm</a:t>
            </a:r>
            <a:endParaRPr sz="4300">
              <a:latin typeface="Times New Roman"/>
              <a:cs typeface="Times New Roman"/>
            </a:endParaRPr>
          </a:p>
          <a:p>
            <a:pPr marL="844550" indent="-831850">
              <a:lnSpc>
                <a:spcPct val="100000"/>
              </a:lnSpc>
              <a:spcBef>
                <a:spcPts val="955"/>
              </a:spcBef>
              <a:buAutoNum type="arabicPeriod"/>
              <a:tabLst>
                <a:tab pos="844550" algn="l"/>
              </a:tabLst>
            </a:pPr>
            <a:r>
              <a:rPr sz="4300" spc="-80" dirty="0">
                <a:latin typeface="Times New Roman"/>
                <a:cs typeface="Times New Roman"/>
              </a:rPr>
              <a:t>Dynamic</a:t>
            </a:r>
            <a:r>
              <a:rPr sz="4300" spc="-160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programming</a:t>
            </a:r>
            <a:endParaRPr sz="4300">
              <a:latin typeface="Times New Roman"/>
              <a:cs typeface="Times New Roman"/>
            </a:endParaRPr>
          </a:p>
          <a:p>
            <a:pPr marL="844550" indent="-828040">
              <a:lnSpc>
                <a:spcPct val="100000"/>
              </a:lnSpc>
              <a:spcBef>
                <a:spcPts val="1015"/>
              </a:spcBef>
              <a:buAutoNum type="arabicPeriod"/>
              <a:tabLst>
                <a:tab pos="844550" algn="l"/>
              </a:tabLst>
            </a:pPr>
            <a:r>
              <a:rPr sz="4200" spc="-10" dirty="0">
                <a:latin typeface="Times New Roman"/>
                <a:cs typeface="Times New Roman"/>
              </a:rPr>
              <a:t>Backtracking</a:t>
            </a:r>
            <a:endParaRPr sz="4200">
              <a:latin typeface="Times New Roman"/>
              <a:cs typeface="Times New Roman"/>
            </a:endParaRPr>
          </a:p>
          <a:p>
            <a:pPr marL="844550" indent="-826135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844550" algn="l"/>
              </a:tabLst>
            </a:pPr>
            <a:r>
              <a:rPr sz="4200" dirty="0">
                <a:latin typeface="Times New Roman"/>
                <a:cs typeface="Times New Roman"/>
              </a:rPr>
              <a:t>Branch</a:t>
            </a:r>
            <a:r>
              <a:rPr sz="4200" spc="-6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and</a:t>
            </a:r>
            <a:r>
              <a:rPr sz="4200" spc="-210" dirty="0">
                <a:latin typeface="Times New Roman"/>
                <a:cs typeface="Times New Roman"/>
              </a:rPr>
              <a:t> </a:t>
            </a:r>
            <a:r>
              <a:rPr sz="4200" spc="-20" dirty="0">
                <a:latin typeface="Times New Roman"/>
                <a:cs typeface="Times New Roman"/>
              </a:rPr>
              <a:t>Bound</a:t>
            </a:r>
            <a:endParaRPr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428625"/>
            <a:ext cx="4067175" cy="781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0125" y="438150"/>
            <a:ext cx="5248275" cy="1000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0825" y="438150"/>
            <a:ext cx="4191000" cy="1000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63475" y="8143875"/>
            <a:ext cx="942975" cy="2190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3992225" y="8191500"/>
            <a:ext cx="1200150" cy="428625"/>
            <a:chOff x="13992225" y="8191500"/>
            <a:chExt cx="1200150" cy="42862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11275" y="8405812"/>
              <a:ext cx="1181100" cy="2143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92225" y="8191500"/>
              <a:ext cx="76200" cy="23336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06375" y="8429625"/>
            <a:ext cx="733425" cy="2095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49150" y="8439150"/>
            <a:ext cx="485775" cy="19050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3992225" y="7477125"/>
            <a:ext cx="1600200" cy="1143000"/>
            <a:chOff x="13992225" y="7477125"/>
            <a:chExt cx="1600200" cy="11430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11275" y="8405812"/>
              <a:ext cx="1181100" cy="2143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73200" y="7477125"/>
              <a:ext cx="1419225" cy="10096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92225" y="8191500"/>
              <a:ext cx="76200" cy="23336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573375" y="7172325"/>
            <a:ext cx="123825" cy="1809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840075" y="8424862"/>
            <a:ext cx="485775" cy="21431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7345025" y="8210550"/>
            <a:ext cx="95250" cy="352425"/>
            <a:chOff x="17345025" y="8210550"/>
            <a:chExt cx="95250" cy="352425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364075" y="8210550"/>
              <a:ext cx="76200" cy="2143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345025" y="8424862"/>
              <a:ext cx="95250" cy="138112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5992475" y="7215187"/>
            <a:ext cx="2981325" cy="1209675"/>
            <a:chOff x="15992475" y="7215187"/>
            <a:chExt cx="2981325" cy="1209675"/>
          </a:xfrm>
        </p:grpSpPr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506950" y="8067675"/>
              <a:ext cx="228600" cy="3571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992475" y="7215187"/>
              <a:ext cx="2981325" cy="957262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354050" y="9572625"/>
            <a:ext cx="3162300" cy="10001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573500" y="7105650"/>
            <a:ext cx="123825" cy="23812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011900" y="8172450"/>
            <a:ext cx="95250" cy="31432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2239625" y="7700962"/>
            <a:ext cx="3257550" cy="1871980"/>
            <a:chOff x="12239625" y="7700962"/>
            <a:chExt cx="3257550" cy="1871980"/>
          </a:xfrm>
        </p:grpSpPr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239625" y="8143875"/>
              <a:ext cx="142875" cy="2905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411075" y="8153400"/>
              <a:ext cx="3086100" cy="11334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392025" y="7700962"/>
              <a:ext cx="1819275" cy="4429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239750" y="9296400"/>
              <a:ext cx="1609725" cy="276225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840075" y="8134350"/>
            <a:ext cx="142875" cy="29051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154400" y="8143875"/>
            <a:ext cx="952500" cy="219075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15963900" y="8405812"/>
            <a:ext cx="3067050" cy="1500505"/>
            <a:chOff x="15963900" y="8405812"/>
            <a:chExt cx="3067050" cy="1500505"/>
          </a:xfrm>
        </p:grpSpPr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63900" y="8467725"/>
              <a:ext cx="2914650" cy="8191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506825" y="8439150"/>
              <a:ext cx="723900" cy="1714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783175" y="8405812"/>
              <a:ext cx="1247775" cy="2143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659225" y="9286875"/>
              <a:ext cx="1619250" cy="619125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2289" algn="l"/>
                <a:tab pos="4240530" algn="l"/>
              </a:tabLst>
            </a:pPr>
            <a:r>
              <a:rPr spc="-25" dirty="0"/>
              <a:t>on</a:t>
            </a:r>
            <a:r>
              <a:rPr dirty="0"/>
              <a:t>	</a:t>
            </a:r>
            <a:r>
              <a:rPr spc="85" dirty="0"/>
              <a:t>uer</a:t>
            </a:r>
            <a:r>
              <a:rPr dirty="0"/>
              <a:t>	</a:t>
            </a:r>
            <a:r>
              <a:rPr spc="265" dirty="0"/>
              <a:t>trate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37412" y="1452562"/>
            <a:ext cx="18622010" cy="522605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110"/>
              </a:spcBef>
            </a:pP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270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algorithm</a:t>
            </a:r>
            <a:r>
              <a:rPr sz="4250" spc="-60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which</a:t>
            </a:r>
            <a:r>
              <a:rPr sz="4250" spc="-190" dirty="0">
                <a:latin typeface="Times New Roman"/>
                <a:cs typeface="Times New Roman"/>
              </a:rPr>
              <a:t> </a:t>
            </a:r>
            <a:r>
              <a:rPr sz="4250" spc="-20" dirty="0">
                <a:latin typeface="Times New Roman"/>
                <a:cs typeface="Times New Roman"/>
              </a:rPr>
              <a:t>follows</a:t>
            </a:r>
            <a:r>
              <a:rPr sz="4250" spc="-13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divide</a:t>
            </a:r>
            <a:r>
              <a:rPr sz="4250" spc="-21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and</a:t>
            </a:r>
            <a:r>
              <a:rPr sz="4250" spc="-225" dirty="0">
                <a:latin typeface="Times New Roman"/>
                <a:cs typeface="Times New Roman"/>
              </a:rPr>
              <a:t> </a:t>
            </a:r>
            <a:r>
              <a:rPr sz="4250" spc="-20" dirty="0">
                <a:latin typeface="Times New Roman"/>
                <a:cs typeface="Times New Roman"/>
              </a:rPr>
              <a:t>conquer</a:t>
            </a:r>
            <a:r>
              <a:rPr sz="4250" spc="-130" dirty="0">
                <a:latin typeface="Times New Roman"/>
                <a:cs typeface="Times New Roman"/>
              </a:rPr>
              <a:t> </a:t>
            </a:r>
            <a:r>
              <a:rPr sz="4250" spc="-35" dirty="0">
                <a:latin typeface="Times New Roman"/>
                <a:cs typeface="Times New Roman"/>
              </a:rPr>
              <a:t>technique</a:t>
            </a:r>
            <a:r>
              <a:rPr sz="4250" spc="-105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involves</a:t>
            </a:r>
            <a:r>
              <a:rPr sz="4250" spc="-14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3</a:t>
            </a:r>
            <a:r>
              <a:rPr sz="4250" spc="-26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steps:</a:t>
            </a:r>
            <a:endParaRPr sz="4250">
              <a:latin typeface="Times New Roman"/>
              <a:cs typeface="Times New Roman"/>
            </a:endParaRPr>
          </a:p>
          <a:p>
            <a:pPr marL="834390" indent="-815975">
              <a:lnSpc>
                <a:spcPct val="100000"/>
              </a:lnSpc>
              <a:spcBef>
                <a:spcPts val="1015"/>
              </a:spcBef>
              <a:buAutoNum type="arabicPeriod"/>
              <a:tabLst>
                <a:tab pos="834390" algn="l"/>
              </a:tabLst>
            </a:pPr>
            <a:r>
              <a:rPr sz="4250" spc="-10" dirty="0">
                <a:latin typeface="Times New Roman"/>
                <a:cs typeface="Times New Roman"/>
              </a:rPr>
              <a:t>Divide</a:t>
            </a:r>
            <a:r>
              <a:rPr sz="4250" spc="-3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225" dirty="0">
                <a:latin typeface="Times New Roman"/>
                <a:cs typeface="Times New Roman"/>
              </a:rPr>
              <a:t> </a:t>
            </a:r>
            <a:r>
              <a:rPr sz="4250" spc="-20" dirty="0">
                <a:latin typeface="Times New Roman"/>
                <a:cs typeface="Times New Roman"/>
              </a:rPr>
              <a:t>original</a:t>
            </a:r>
            <a:r>
              <a:rPr sz="4250" spc="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problem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into</a:t>
            </a:r>
            <a:r>
              <a:rPr sz="4250" spc="-18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</a:t>
            </a:r>
            <a:r>
              <a:rPr sz="4250" spc="-27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set</a:t>
            </a:r>
            <a:r>
              <a:rPr sz="4250" spc="-15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of</a:t>
            </a:r>
            <a:r>
              <a:rPr sz="4250" spc="-19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sub</a:t>
            </a:r>
            <a:r>
              <a:rPr sz="4250" spc="-21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problems.</a:t>
            </a:r>
            <a:endParaRPr sz="4250">
              <a:latin typeface="Times New Roman"/>
              <a:cs typeface="Times New Roman"/>
            </a:endParaRPr>
          </a:p>
          <a:p>
            <a:pPr marL="833119" indent="-820419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833119" algn="l"/>
              </a:tabLst>
            </a:pPr>
            <a:r>
              <a:rPr sz="4250" spc="-40" dirty="0">
                <a:latin typeface="Times New Roman"/>
                <a:cs typeface="Times New Roman"/>
              </a:rPr>
              <a:t>Conquer</a:t>
            </a:r>
            <a:r>
              <a:rPr sz="4250" spc="-229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(or</a:t>
            </a:r>
            <a:r>
              <a:rPr sz="4250" spc="-25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solve)</a:t>
            </a:r>
            <a:r>
              <a:rPr sz="4250" spc="-14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every</a:t>
            </a:r>
            <a:r>
              <a:rPr sz="4250" spc="-225" dirty="0">
                <a:latin typeface="Times New Roman"/>
                <a:cs typeface="Times New Roman"/>
              </a:rPr>
              <a:t> </a:t>
            </a:r>
            <a:r>
              <a:rPr sz="4250" spc="-85" dirty="0">
                <a:latin typeface="Times New Roman"/>
                <a:cs typeface="Times New Roman"/>
              </a:rPr>
              <a:t>sub-</a:t>
            </a:r>
            <a:r>
              <a:rPr sz="4250" spc="-10" dirty="0">
                <a:latin typeface="Times New Roman"/>
                <a:cs typeface="Times New Roman"/>
              </a:rPr>
              <a:t>problem</a:t>
            </a:r>
            <a:r>
              <a:rPr sz="4250" spc="50" dirty="0">
                <a:latin typeface="Times New Roman"/>
                <a:cs typeface="Times New Roman"/>
              </a:rPr>
              <a:t> </a:t>
            </a:r>
            <a:r>
              <a:rPr sz="4250" spc="-55" dirty="0">
                <a:latin typeface="Times New Roman"/>
                <a:cs typeface="Times New Roman"/>
              </a:rPr>
              <a:t>individually, </a:t>
            </a:r>
            <a:r>
              <a:rPr sz="4250" spc="-10" dirty="0">
                <a:latin typeface="Times New Roman"/>
                <a:cs typeface="Times New Roman"/>
              </a:rPr>
              <a:t>recursive.</a:t>
            </a:r>
            <a:endParaRPr sz="4250">
              <a:latin typeface="Times New Roman"/>
              <a:cs typeface="Times New Roman"/>
            </a:endParaRPr>
          </a:p>
          <a:p>
            <a:pPr marL="833755" indent="-821055">
              <a:lnSpc>
                <a:spcPts val="4745"/>
              </a:lnSpc>
              <a:spcBef>
                <a:spcPts val="1110"/>
              </a:spcBef>
              <a:buAutoNum type="arabicPeriod"/>
              <a:tabLst>
                <a:tab pos="833755" algn="l"/>
                <a:tab pos="3086100" algn="l"/>
                <a:tab pos="4018279" algn="l"/>
                <a:tab pos="6235700" algn="l"/>
                <a:tab pos="6972300" algn="l"/>
                <a:tab pos="8352155" algn="l"/>
                <a:tab pos="9389110" algn="l"/>
                <a:tab pos="11649075" algn="l"/>
                <a:tab pos="12362180" algn="l"/>
                <a:tab pos="13306425" algn="l"/>
                <a:tab pos="14257655" algn="l"/>
                <a:tab pos="16256000" algn="l"/>
                <a:tab pos="16989425" algn="l"/>
              </a:tabLst>
            </a:pPr>
            <a:r>
              <a:rPr sz="4150" spc="-10" dirty="0">
                <a:latin typeface="Times New Roman"/>
                <a:cs typeface="Times New Roman"/>
              </a:rPr>
              <a:t>Combine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the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solutions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of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these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sub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problems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to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get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the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10" dirty="0">
                <a:latin typeface="Times New Roman"/>
                <a:cs typeface="Times New Roman"/>
              </a:rPr>
              <a:t>solution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5" dirty="0">
                <a:latin typeface="Times New Roman"/>
                <a:cs typeface="Times New Roman"/>
              </a:rPr>
              <a:t>of</a:t>
            </a:r>
            <a:r>
              <a:rPr sz="4150" dirty="0">
                <a:latin typeface="Times New Roman"/>
                <a:cs typeface="Times New Roman"/>
              </a:rPr>
              <a:t>	</a:t>
            </a:r>
            <a:r>
              <a:rPr sz="4150" spc="-20" dirty="0">
                <a:latin typeface="Times New Roman"/>
                <a:cs typeface="Times New Roman"/>
              </a:rPr>
              <a:t>original</a:t>
            </a:r>
            <a:endParaRPr sz="4150">
              <a:latin typeface="Times New Roman"/>
              <a:cs typeface="Times New Roman"/>
            </a:endParaRPr>
          </a:p>
          <a:p>
            <a:pPr marL="845185">
              <a:lnSpc>
                <a:spcPts val="4685"/>
              </a:lnSpc>
            </a:pPr>
            <a:r>
              <a:rPr sz="4100" spc="-10" dirty="0">
                <a:latin typeface="Times New Roman"/>
                <a:cs typeface="Times New Roman"/>
              </a:rPr>
              <a:t>problem.</a:t>
            </a: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0"/>
              </a:spcBef>
            </a:pPr>
            <a:endParaRPr sz="4100">
              <a:latin typeface="Times New Roman"/>
              <a:cs typeface="Times New Roman"/>
            </a:endParaRPr>
          </a:p>
          <a:p>
            <a:pPr marL="69215">
              <a:lnSpc>
                <a:spcPct val="100000"/>
              </a:lnSpc>
            </a:pPr>
            <a:r>
              <a:rPr sz="4250" spc="-530" dirty="0">
                <a:latin typeface="Calibri"/>
                <a:cs typeface="Calibri"/>
              </a:rPr>
              <a:t>\•</a:t>
            </a:r>
            <a:r>
              <a:rPr sz="4250" spc="120" dirty="0">
                <a:latin typeface="Calibri"/>
                <a:cs typeface="Calibri"/>
              </a:rPr>
              <a:t> </a:t>
            </a:r>
            <a:r>
              <a:rPr sz="4250" spc="-60" dirty="0">
                <a:latin typeface="Calibri"/>
                <a:cs typeface="Calibri"/>
              </a:rPr>
              <a:t>Problems</a:t>
            </a:r>
            <a:r>
              <a:rPr sz="4250" spc="-175" dirty="0">
                <a:latin typeface="Calibri"/>
                <a:cs typeface="Calibri"/>
              </a:rPr>
              <a:t> </a:t>
            </a:r>
            <a:r>
              <a:rPr sz="4250" spc="-20" dirty="0">
                <a:latin typeface="Calibri"/>
                <a:cs typeface="Calibri"/>
              </a:rPr>
              <a:t>that</a:t>
            </a:r>
            <a:r>
              <a:rPr sz="4250" spc="-220" dirty="0">
                <a:latin typeface="Calibri"/>
                <a:cs typeface="Calibri"/>
              </a:rPr>
              <a:t> </a:t>
            </a:r>
            <a:r>
              <a:rPr sz="4250" spc="-45" dirty="0">
                <a:latin typeface="Calibri"/>
                <a:cs typeface="Calibri"/>
              </a:rPr>
              <a:t>follow</a:t>
            </a:r>
            <a:r>
              <a:rPr sz="4250" spc="-130" dirty="0">
                <a:latin typeface="Calibri"/>
                <a:cs typeface="Calibri"/>
              </a:rPr>
              <a:t> </a:t>
            </a:r>
            <a:r>
              <a:rPr sz="4250" spc="-25" dirty="0">
                <a:latin typeface="Calibri"/>
                <a:cs typeface="Calibri"/>
              </a:rPr>
              <a:t>divide</a:t>
            </a:r>
            <a:r>
              <a:rPr sz="4250" spc="-17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and</a:t>
            </a:r>
            <a:r>
              <a:rPr sz="4250" spc="-229" dirty="0">
                <a:latin typeface="Calibri"/>
                <a:cs typeface="Calibri"/>
              </a:rPr>
              <a:t> </a:t>
            </a:r>
            <a:r>
              <a:rPr sz="4250" spc="-55" dirty="0">
                <a:latin typeface="Calibri"/>
                <a:cs typeface="Calibri"/>
              </a:rPr>
              <a:t>conquer</a:t>
            </a:r>
            <a:r>
              <a:rPr sz="4250" spc="-6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strategy: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7437" y="6653212"/>
            <a:ext cx="7184390" cy="234950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98780" indent="-386080">
              <a:lnSpc>
                <a:spcPct val="100000"/>
              </a:lnSpc>
              <a:spcBef>
                <a:spcPts val="1075"/>
              </a:spcBef>
              <a:buChar char="•"/>
              <a:tabLst>
                <a:tab pos="398780" algn="l"/>
              </a:tabLst>
            </a:pPr>
            <a:r>
              <a:rPr sz="4250" spc="-80" dirty="0">
                <a:latin typeface="Calibri"/>
                <a:cs typeface="Calibri"/>
              </a:rPr>
              <a:t>Merge</a:t>
            </a:r>
            <a:r>
              <a:rPr sz="4250" spc="-130" dirty="0">
                <a:latin typeface="Calibri"/>
                <a:cs typeface="Calibri"/>
              </a:rPr>
              <a:t> </a:t>
            </a:r>
            <a:r>
              <a:rPr sz="4250" spc="-20" dirty="0">
                <a:latin typeface="Calibri"/>
                <a:cs typeface="Calibri"/>
              </a:rPr>
              <a:t>Sort</a:t>
            </a:r>
            <a:endParaRPr sz="4250">
              <a:latin typeface="Calibri"/>
              <a:cs typeface="Calibri"/>
            </a:endParaRPr>
          </a:p>
          <a:p>
            <a:pPr marL="398780" indent="-386080">
              <a:lnSpc>
                <a:spcPct val="100000"/>
              </a:lnSpc>
              <a:spcBef>
                <a:spcPts val="975"/>
              </a:spcBef>
              <a:buChar char="•"/>
              <a:tabLst>
                <a:tab pos="398780" algn="l"/>
              </a:tabLst>
            </a:pPr>
            <a:r>
              <a:rPr sz="4250" spc="-35" dirty="0">
                <a:latin typeface="Calibri"/>
                <a:cs typeface="Calibri"/>
              </a:rPr>
              <a:t>Binary</a:t>
            </a:r>
            <a:r>
              <a:rPr sz="4250" spc="-155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Search</a:t>
            </a:r>
            <a:endParaRPr sz="4250">
              <a:latin typeface="Calibri"/>
              <a:cs typeface="Calibri"/>
            </a:endParaRPr>
          </a:p>
          <a:p>
            <a:pPr marL="396875" indent="-384175">
              <a:lnSpc>
                <a:spcPct val="100000"/>
              </a:lnSpc>
              <a:spcBef>
                <a:spcPts val="1050"/>
              </a:spcBef>
              <a:buChar char="•"/>
              <a:tabLst>
                <a:tab pos="396875" algn="l"/>
              </a:tabLst>
            </a:pPr>
            <a:r>
              <a:rPr sz="4250" spc="-55" dirty="0">
                <a:latin typeface="Calibri"/>
                <a:cs typeface="Calibri"/>
              </a:rPr>
              <a:t>Strassen's</a:t>
            </a:r>
            <a:r>
              <a:rPr sz="4250" spc="-160" dirty="0">
                <a:latin typeface="Calibri"/>
                <a:cs typeface="Calibri"/>
              </a:rPr>
              <a:t> </a:t>
            </a:r>
            <a:r>
              <a:rPr sz="4250" spc="-40" dirty="0">
                <a:latin typeface="Calibri"/>
                <a:cs typeface="Calibri"/>
              </a:rPr>
              <a:t>Matrix</a:t>
            </a:r>
            <a:r>
              <a:rPr sz="4250" spc="-17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Multiplication</a:t>
            </a:r>
            <a:endParaRPr sz="42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180526" y="6507162"/>
            <a:ext cx="56324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" dirty="0">
                <a:solidFill>
                  <a:srgbClr val="262626"/>
                </a:solidFill>
                <a:latin typeface="Times New Roman"/>
                <a:cs typeface="Times New Roman"/>
              </a:rPr>
              <a:t>probl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131685" y="7148512"/>
            <a:ext cx="164973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45" dirty="0">
                <a:solidFill>
                  <a:srgbClr val="4B4B4B"/>
                </a:solidFill>
                <a:latin typeface="Times New Roman"/>
                <a:cs typeface="Times New Roman"/>
              </a:rPr>
              <a:t>(,</a:t>
            </a:r>
            <a:r>
              <a:rPr sz="1850" spc="135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F0F0F"/>
                </a:solidFill>
                <a:latin typeface="Times New Roman"/>
                <a:cs typeface="Times New Roman"/>
              </a:rPr>
              <a:t>subp</a:t>
            </a:r>
            <a:r>
              <a:rPr sz="1850" spc="-19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1850" spc="65" dirty="0">
                <a:solidFill>
                  <a:srgbClr val="131313"/>
                </a:solidFill>
                <a:latin typeface="Times New Roman"/>
                <a:cs typeface="Times New Roman"/>
              </a:rPr>
              <a:t>rub</a:t>
            </a:r>
            <a:r>
              <a:rPr sz="1850" spc="-24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161616"/>
                </a:solidFill>
                <a:latin typeface="Times New Roman"/>
                <a:cs typeface="Times New Roman"/>
              </a:rPr>
              <a:t>lem</a:t>
            </a:r>
            <a:r>
              <a:rPr sz="1850" spc="-10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1850" spc="-25" dirty="0">
                <a:solidFill>
                  <a:srgbClr val="565656"/>
                </a:solidFill>
                <a:latin typeface="Times New Roman"/>
                <a:cs typeface="Times New Roman"/>
              </a:rPr>
              <a:t>q)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961471" y="7072312"/>
            <a:ext cx="721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000" spc="-50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43434"/>
                </a:solidFill>
                <a:latin typeface="Times New Roman"/>
                <a:cs typeface="Times New Roman"/>
              </a:rPr>
              <a:t>bl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981294" y="8023225"/>
            <a:ext cx="7975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35" dirty="0">
                <a:solidFill>
                  <a:srgbClr val="262626"/>
                </a:solidFill>
                <a:latin typeface="Times New Roman"/>
                <a:cs typeface="Times New Roman"/>
              </a:rPr>
              <a:t>corp-</a:t>
            </a:r>
            <a:r>
              <a:rPr sz="1900" spc="-11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1F1F1F"/>
                </a:solidFill>
                <a:latin typeface="Times New Roman"/>
                <a:cs typeface="Times New Roman"/>
              </a:rPr>
              <a:t>ute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4325" y="10077450"/>
            <a:ext cx="3686175" cy="5238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6025" y="7486650"/>
            <a:ext cx="4752975" cy="2114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100" y="390525"/>
            <a:ext cx="4533900" cy="1000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76850" y="390525"/>
            <a:ext cx="4210050" cy="10001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02214" y="1587"/>
            <a:ext cx="58115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60165" algn="l"/>
              </a:tabLst>
            </a:pPr>
            <a:r>
              <a:rPr sz="9000" spc="-25" dirty="0">
                <a:latin typeface="Calibri"/>
                <a:cs typeface="Calibri"/>
              </a:rPr>
              <a:t>ree</a:t>
            </a:r>
            <a:r>
              <a:rPr sz="9000" dirty="0">
                <a:latin typeface="Calibri"/>
                <a:cs typeface="Calibri"/>
              </a:rPr>
              <a:t>	</a:t>
            </a:r>
            <a:r>
              <a:rPr sz="9000" spc="40" dirty="0">
                <a:latin typeface="Calibri"/>
                <a:cs typeface="Calibri"/>
              </a:rPr>
              <a:t>ra‹e</a:t>
            </a:r>
            <a:endParaRPr sz="9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5185" y="1450975"/>
            <a:ext cx="18584545" cy="912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5605" indent="-361950" algn="just">
              <a:lnSpc>
                <a:spcPts val="4665"/>
              </a:lnSpc>
              <a:spcBef>
                <a:spcPts val="100"/>
              </a:spcBef>
              <a:buChar char="•"/>
              <a:tabLst>
                <a:tab pos="395605" algn="l"/>
              </a:tabLst>
            </a:pPr>
            <a:r>
              <a:rPr sz="4150" dirty="0">
                <a:latin typeface="Times New Roman"/>
                <a:cs typeface="Times New Roman"/>
              </a:rPr>
              <a:t>Greedy</a:t>
            </a:r>
            <a:r>
              <a:rPr sz="4150" spc="484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technique</a:t>
            </a:r>
            <a:r>
              <a:rPr sz="4150" spc="52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is</a:t>
            </a:r>
            <a:r>
              <a:rPr sz="4150" spc="28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used</a:t>
            </a:r>
            <a:r>
              <a:rPr sz="4150" spc="37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to</a:t>
            </a:r>
            <a:r>
              <a:rPr sz="4150" spc="31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solve</a:t>
            </a:r>
            <a:r>
              <a:rPr sz="4150" spc="459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an</a:t>
            </a:r>
            <a:r>
              <a:rPr sz="4150" spc="29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optimization</a:t>
            </a:r>
            <a:r>
              <a:rPr sz="4150" spc="509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problem.</a:t>
            </a:r>
            <a:r>
              <a:rPr sz="4150" spc="58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(Repeatedly</a:t>
            </a:r>
            <a:r>
              <a:rPr sz="4150" spc="59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do</a:t>
            </a:r>
            <a:r>
              <a:rPr sz="4150" spc="35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what</a:t>
            </a:r>
            <a:r>
              <a:rPr sz="4150" spc="390" dirty="0">
                <a:latin typeface="Times New Roman"/>
                <a:cs typeface="Times New Roman"/>
              </a:rPr>
              <a:t> </a:t>
            </a:r>
            <a:r>
              <a:rPr sz="4150" spc="-25" dirty="0">
                <a:latin typeface="Times New Roman"/>
                <a:cs typeface="Times New Roman"/>
              </a:rPr>
              <a:t>is</a:t>
            </a:r>
            <a:endParaRPr sz="4150" dirty="0">
              <a:latin typeface="Times New Roman"/>
              <a:cs typeface="Times New Roman"/>
            </a:endParaRPr>
          </a:p>
          <a:p>
            <a:pPr marL="397510" algn="just">
              <a:lnSpc>
                <a:spcPts val="4845"/>
              </a:lnSpc>
            </a:pPr>
            <a:r>
              <a:rPr sz="4300" spc="-20" dirty="0">
                <a:latin typeface="Times New Roman"/>
                <a:cs typeface="Times New Roman"/>
              </a:rPr>
              <a:t>best</a:t>
            </a:r>
            <a:r>
              <a:rPr sz="4300" spc="-240" dirty="0">
                <a:latin typeface="Times New Roman"/>
                <a:cs typeface="Times New Roman"/>
              </a:rPr>
              <a:t> </a:t>
            </a:r>
            <a:r>
              <a:rPr sz="4300" spc="-20" dirty="0">
                <a:latin typeface="Times New Roman"/>
                <a:cs typeface="Times New Roman"/>
              </a:rPr>
              <a:t>now)</a:t>
            </a:r>
            <a:endParaRPr sz="4300" dirty="0">
              <a:latin typeface="Times New Roman"/>
              <a:cs typeface="Times New Roman"/>
            </a:endParaRPr>
          </a:p>
          <a:p>
            <a:pPr marL="395605" marR="17145" indent="-362585" algn="just">
              <a:lnSpc>
                <a:spcPts val="4500"/>
              </a:lnSpc>
              <a:spcBef>
                <a:spcPts val="1650"/>
              </a:spcBef>
              <a:buChar char="•"/>
              <a:tabLst>
                <a:tab pos="395605" algn="l"/>
                <a:tab pos="400685" algn="l"/>
              </a:tabLst>
            </a:pPr>
            <a:r>
              <a:rPr sz="4200" dirty="0">
                <a:latin typeface="Times New Roman"/>
                <a:cs typeface="Times New Roman"/>
              </a:rPr>
              <a:t>	An</a:t>
            </a:r>
            <a:r>
              <a:rPr sz="4200" spc="8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Optimization</a:t>
            </a:r>
            <a:r>
              <a:rPr sz="4200" spc="48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problem</a:t>
            </a:r>
            <a:r>
              <a:rPr sz="4200" spc="29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is</a:t>
            </a:r>
            <a:r>
              <a:rPr sz="4200" spc="7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one</a:t>
            </a:r>
            <a:r>
              <a:rPr sz="4200" spc="1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in</a:t>
            </a:r>
            <a:r>
              <a:rPr sz="4200" spc="16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which,</a:t>
            </a:r>
            <a:r>
              <a:rPr sz="4200" spc="24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we</a:t>
            </a:r>
            <a:r>
              <a:rPr sz="4200" spc="8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are</a:t>
            </a:r>
            <a:r>
              <a:rPr sz="4200" spc="10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given</a:t>
            </a:r>
            <a:r>
              <a:rPr sz="4200" spc="19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a</a:t>
            </a:r>
            <a:r>
              <a:rPr sz="4200" spc="5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set</a:t>
            </a:r>
            <a:r>
              <a:rPr sz="4200" spc="19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of</a:t>
            </a:r>
            <a:r>
              <a:rPr sz="4200" spc="7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input</a:t>
            </a:r>
            <a:r>
              <a:rPr sz="4200" spc="18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values,</a:t>
            </a:r>
            <a:r>
              <a:rPr sz="4200" spc="14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which </a:t>
            </a:r>
            <a:r>
              <a:rPr sz="4250" dirty="0">
                <a:latin typeface="Times New Roman"/>
                <a:cs typeface="Times New Roman"/>
              </a:rPr>
              <a:t>are</a:t>
            </a:r>
            <a:r>
              <a:rPr sz="4250" spc="-22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required</a:t>
            </a:r>
            <a:r>
              <a:rPr sz="4250" spc="-1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to</a:t>
            </a:r>
            <a:r>
              <a:rPr sz="4250" spc="-26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be</a:t>
            </a:r>
            <a:r>
              <a:rPr sz="4250" spc="-2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either</a:t>
            </a:r>
            <a:r>
              <a:rPr sz="4250" spc="-15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maximized</a:t>
            </a:r>
            <a:r>
              <a:rPr sz="4250" spc="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or</a:t>
            </a:r>
            <a:r>
              <a:rPr sz="4250" spc="-220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minimized</a:t>
            </a:r>
            <a:r>
              <a:rPr sz="4250" spc="-65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(known</a:t>
            </a:r>
            <a:r>
              <a:rPr sz="4250" spc="-13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as</a:t>
            </a:r>
            <a:r>
              <a:rPr sz="4250" spc="-26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objective</a:t>
            </a:r>
            <a:r>
              <a:rPr sz="4250" spc="-5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function)</a:t>
            </a:r>
            <a:r>
              <a:rPr sz="4250" spc="-70" dirty="0">
                <a:latin typeface="Times New Roman"/>
                <a:cs typeface="Times New Roman"/>
              </a:rPr>
              <a:t> </a:t>
            </a:r>
            <a:r>
              <a:rPr sz="4250" spc="-110" dirty="0">
                <a:latin typeface="Times New Roman"/>
                <a:cs typeface="Times New Roman"/>
              </a:rPr>
              <a:t>w.r.t. </a:t>
            </a:r>
            <a:r>
              <a:rPr sz="4150" dirty="0">
                <a:latin typeface="Times New Roman"/>
                <a:cs typeface="Times New Roman"/>
              </a:rPr>
              <a:t>some</a:t>
            </a:r>
            <a:r>
              <a:rPr sz="4150" spc="25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constraints</a:t>
            </a:r>
            <a:r>
              <a:rPr sz="4150" spc="50" dirty="0">
                <a:latin typeface="Times New Roman"/>
                <a:cs typeface="Times New Roman"/>
              </a:rPr>
              <a:t> </a:t>
            </a:r>
            <a:r>
              <a:rPr sz="4150" dirty="0">
                <a:latin typeface="Times New Roman"/>
                <a:cs typeface="Times New Roman"/>
              </a:rPr>
              <a:t>or</a:t>
            </a:r>
            <a:r>
              <a:rPr sz="4150" spc="-114" dirty="0">
                <a:latin typeface="Times New Roman"/>
                <a:cs typeface="Times New Roman"/>
              </a:rPr>
              <a:t> </a:t>
            </a:r>
            <a:r>
              <a:rPr sz="4150" spc="-10" dirty="0">
                <a:latin typeface="Times New Roman"/>
                <a:cs typeface="Times New Roman"/>
              </a:rPr>
              <a:t>conditions.</a:t>
            </a:r>
            <a:endParaRPr sz="4150" dirty="0">
              <a:latin typeface="Times New Roman"/>
              <a:cs typeface="Times New Roman"/>
            </a:endParaRPr>
          </a:p>
          <a:p>
            <a:pPr marL="398145" marR="28575" indent="-365125" algn="just">
              <a:lnSpc>
                <a:spcPts val="4500"/>
              </a:lnSpc>
              <a:spcBef>
                <a:spcPts val="1575"/>
              </a:spcBef>
              <a:buChar char="•"/>
              <a:tabLst>
                <a:tab pos="398145" algn="l"/>
              </a:tabLst>
            </a:pP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14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greedy</a:t>
            </a:r>
            <a:r>
              <a:rPr sz="4250" spc="-8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algorithm</a:t>
            </a:r>
            <a:r>
              <a:rPr sz="4250" spc="-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does</a:t>
            </a:r>
            <a:r>
              <a:rPr sz="4250" spc="-1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not</a:t>
            </a:r>
            <a:r>
              <a:rPr sz="4250" spc="-12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always</a:t>
            </a:r>
            <a:r>
              <a:rPr sz="4250" spc="-9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guarantee</a:t>
            </a:r>
            <a:r>
              <a:rPr sz="4250" spc="-1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15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optimal</a:t>
            </a:r>
            <a:r>
              <a:rPr sz="4250" spc="-5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solution</a:t>
            </a:r>
            <a:r>
              <a:rPr sz="4250" spc="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but</a:t>
            </a:r>
            <a:r>
              <a:rPr sz="4250" spc="-18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it</a:t>
            </a:r>
            <a:r>
              <a:rPr sz="4250" spc="-160" dirty="0">
                <a:latin typeface="Times New Roman"/>
                <a:cs typeface="Times New Roman"/>
              </a:rPr>
              <a:t> </a:t>
            </a:r>
            <a:r>
              <a:rPr sz="4250" spc="-50" dirty="0">
                <a:latin typeface="Times New Roman"/>
                <a:cs typeface="Times New Roman"/>
              </a:rPr>
              <a:t>generally </a:t>
            </a:r>
            <a:r>
              <a:rPr sz="4250" spc="-30" dirty="0">
                <a:latin typeface="Times New Roman"/>
                <a:cs typeface="Times New Roman"/>
              </a:rPr>
              <a:t>produces</a:t>
            </a:r>
            <a:r>
              <a:rPr sz="4250" spc="-65" dirty="0">
                <a:latin typeface="Times New Roman"/>
                <a:cs typeface="Times New Roman"/>
              </a:rPr>
              <a:t> </a:t>
            </a:r>
            <a:r>
              <a:rPr sz="4250" spc="-30" dirty="0">
                <a:latin typeface="Times New Roman"/>
                <a:cs typeface="Times New Roman"/>
              </a:rPr>
              <a:t>solutions</a:t>
            </a:r>
            <a:r>
              <a:rPr sz="4250" spc="-6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that</a:t>
            </a:r>
            <a:r>
              <a:rPr sz="4250" spc="-21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are</a:t>
            </a:r>
            <a:r>
              <a:rPr sz="4250" spc="-18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very</a:t>
            </a:r>
            <a:r>
              <a:rPr sz="4250" spc="-17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close</a:t>
            </a:r>
            <a:r>
              <a:rPr sz="4250" spc="-12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in</a:t>
            </a:r>
            <a:r>
              <a:rPr sz="4250" spc="-20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value</a:t>
            </a:r>
            <a:r>
              <a:rPr sz="4250" spc="-14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to</a:t>
            </a:r>
            <a:r>
              <a:rPr sz="4250" spc="-18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the</a:t>
            </a:r>
            <a:r>
              <a:rPr sz="4250" spc="-16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optimal.</a:t>
            </a:r>
            <a:endParaRPr sz="4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0"/>
              </a:spcBef>
              <a:buFont typeface="Times New Roman"/>
              <a:buChar char="•"/>
            </a:pPr>
            <a:endParaRPr sz="4250" dirty="0">
              <a:latin typeface="Times New Roman"/>
              <a:cs typeface="Times New Roman"/>
            </a:endParaRPr>
          </a:p>
          <a:p>
            <a:pPr marL="80010">
              <a:lnSpc>
                <a:spcPct val="100000"/>
              </a:lnSpc>
            </a:pPr>
            <a:r>
              <a:rPr sz="4250" spc="-440" dirty="0">
                <a:latin typeface="Calibri"/>
                <a:cs typeface="Calibri"/>
              </a:rPr>
              <a:t>J+</a:t>
            </a:r>
            <a:r>
              <a:rPr sz="4250" spc="200" dirty="0">
                <a:latin typeface="Calibri"/>
                <a:cs typeface="Calibri"/>
              </a:rPr>
              <a:t> </a:t>
            </a:r>
            <a:r>
              <a:rPr sz="4250" spc="-60" dirty="0">
                <a:latin typeface="Calibri"/>
                <a:cs typeface="Calibri"/>
              </a:rPr>
              <a:t>Problems</a:t>
            </a:r>
            <a:r>
              <a:rPr sz="4250" spc="-175" dirty="0">
                <a:latin typeface="Calibri"/>
                <a:cs typeface="Calibri"/>
              </a:rPr>
              <a:t> </a:t>
            </a:r>
            <a:r>
              <a:rPr sz="4250" spc="-20" dirty="0">
                <a:latin typeface="Calibri"/>
                <a:cs typeface="Calibri"/>
              </a:rPr>
              <a:t>that</a:t>
            </a:r>
            <a:r>
              <a:rPr sz="4250" spc="-185" dirty="0">
                <a:latin typeface="Calibri"/>
                <a:cs typeface="Calibri"/>
              </a:rPr>
              <a:t> </a:t>
            </a:r>
            <a:r>
              <a:rPr sz="4250" spc="-45" dirty="0">
                <a:latin typeface="Calibri"/>
                <a:cs typeface="Calibri"/>
              </a:rPr>
              <a:t>follow</a:t>
            </a:r>
            <a:r>
              <a:rPr sz="4250" spc="20" dirty="0">
                <a:latin typeface="Calibri"/>
                <a:cs typeface="Calibri"/>
              </a:rPr>
              <a:t> </a:t>
            </a:r>
            <a:r>
              <a:rPr sz="4250" spc="-60" dirty="0">
                <a:latin typeface="Calibri"/>
                <a:cs typeface="Calibri"/>
              </a:rPr>
              <a:t>greedy</a:t>
            </a:r>
            <a:r>
              <a:rPr sz="4250" spc="-120" dirty="0">
                <a:latin typeface="Calibri"/>
                <a:cs typeface="Calibri"/>
              </a:rPr>
              <a:t> </a:t>
            </a:r>
            <a:r>
              <a:rPr sz="4250" spc="-10" dirty="0">
                <a:latin typeface="Calibri"/>
                <a:cs typeface="Calibri"/>
              </a:rPr>
              <a:t>strategy:</a:t>
            </a:r>
            <a:endParaRPr sz="4250" dirty="0">
              <a:latin typeface="Calibri"/>
              <a:cs typeface="Calibri"/>
            </a:endParaRPr>
          </a:p>
          <a:p>
            <a:pPr marL="398780" indent="-386080">
              <a:lnSpc>
                <a:spcPct val="100000"/>
              </a:lnSpc>
              <a:spcBef>
                <a:spcPts val="1065"/>
              </a:spcBef>
              <a:buChar char="•"/>
              <a:tabLst>
                <a:tab pos="398780" algn="l"/>
              </a:tabLst>
            </a:pPr>
            <a:r>
              <a:rPr sz="4200" spc="-35" dirty="0">
                <a:latin typeface="Calibri"/>
                <a:cs typeface="Calibri"/>
              </a:rPr>
              <a:t>Fractional</a:t>
            </a:r>
            <a:r>
              <a:rPr sz="4200" spc="-50" dirty="0">
                <a:latin typeface="Calibri"/>
                <a:cs typeface="Calibri"/>
              </a:rPr>
              <a:t> </a:t>
            </a:r>
            <a:r>
              <a:rPr sz="4200" spc="-40" dirty="0">
                <a:latin typeface="Calibri"/>
                <a:cs typeface="Calibri"/>
              </a:rPr>
              <a:t>Knapsack</a:t>
            </a:r>
            <a:r>
              <a:rPr sz="4200" spc="-110" dirty="0">
                <a:latin typeface="Calibri"/>
                <a:cs typeface="Calibri"/>
              </a:rPr>
              <a:t> </a:t>
            </a:r>
            <a:r>
              <a:rPr sz="4200" spc="-10" dirty="0">
                <a:latin typeface="Calibri"/>
                <a:cs typeface="Calibri"/>
              </a:rPr>
              <a:t>Problem</a:t>
            </a:r>
            <a:endParaRPr sz="4200" dirty="0">
              <a:latin typeface="Calibri"/>
              <a:cs typeface="Calibri"/>
            </a:endParaRPr>
          </a:p>
          <a:p>
            <a:pPr marL="398780" indent="-386080">
              <a:lnSpc>
                <a:spcPct val="100000"/>
              </a:lnSpc>
              <a:spcBef>
                <a:spcPts val="1035"/>
              </a:spcBef>
              <a:buChar char="•"/>
              <a:tabLst>
                <a:tab pos="398780" algn="l"/>
              </a:tabLst>
            </a:pPr>
            <a:r>
              <a:rPr sz="4200" dirty="0">
                <a:latin typeface="Calibri"/>
                <a:cs typeface="Calibri"/>
              </a:rPr>
              <a:t>Minimum</a:t>
            </a:r>
            <a:r>
              <a:rPr sz="4200" spc="-204" dirty="0">
                <a:latin typeface="Calibri"/>
                <a:cs typeface="Calibri"/>
              </a:rPr>
              <a:t> </a:t>
            </a:r>
            <a:r>
              <a:rPr sz="4200" spc="-20" dirty="0">
                <a:latin typeface="Calibri"/>
                <a:cs typeface="Calibri"/>
              </a:rPr>
              <a:t>Spanning</a:t>
            </a:r>
            <a:r>
              <a:rPr sz="4200" spc="-150" dirty="0">
                <a:latin typeface="Calibri"/>
                <a:cs typeface="Calibri"/>
              </a:rPr>
              <a:t> </a:t>
            </a:r>
            <a:r>
              <a:rPr sz="4200" spc="-10" dirty="0">
                <a:latin typeface="Calibri"/>
                <a:cs typeface="Calibri"/>
              </a:rPr>
              <a:t>Tress</a:t>
            </a:r>
            <a:endParaRPr sz="4200" dirty="0">
              <a:latin typeface="Calibri"/>
              <a:cs typeface="Calibri"/>
            </a:endParaRPr>
          </a:p>
          <a:p>
            <a:pPr marL="396240" indent="-383540">
              <a:lnSpc>
                <a:spcPct val="100000"/>
              </a:lnSpc>
              <a:spcBef>
                <a:spcPts val="1035"/>
              </a:spcBef>
              <a:buChar char="•"/>
              <a:tabLst>
                <a:tab pos="396240" algn="l"/>
              </a:tabLst>
            </a:pPr>
            <a:r>
              <a:rPr sz="4200" dirty="0">
                <a:latin typeface="Calibri"/>
                <a:cs typeface="Calibri"/>
              </a:rPr>
              <a:t>Single</a:t>
            </a:r>
            <a:r>
              <a:rPr sz="4200" spc="-170" dirty="0">
                <a:latin typeface="Calibri"/>
                <a:cs typeface="Calibri"/>
              </a:rPr>
              <a:t> </a:t>
            </a:r>
            <a:r>
              <a:rPr sz="4200" dirty="0">
                <a:latin typeface="Calibri"/>
                <a:cs typeface="Calibri"/>
              </a:rPr>
              <a:t>Source</a:t>
            </a:r>
            <a:r>
              <a:rPr sz="4200" spc="-155" dirty="0">
                <a:latin typeface="Calibri"/>
                <a:cs typeface="Calibri"/>
              </a:rPr>
              <a:t> </a:t>
            </a:r>
            <a:r>
              <a:rPr sz="4200" spc="-30" dirty="0">
                <a:latin typeface="Calibri"/>
                <a:cs typeface="Calibri"/>
              </a:rPr>
              <a:t>Shortest</a:t>
            </a:r>
            <a:r>
              <a:rPr sz="4200" spc="-105" dirty="0">
                <a:latin typeface="Calibri"/>
                <a:cs typeface="Calibri"/>
              </a:rPr>
              <a:t> </a:t>
            </a:r>
            <a:r>
              <a:rPr sz="4200" spc="-30" dirty="0">
                <a:latin typeface="Calibri"/>
                <a:cs typeface="Calibri"/>
              </a:rPr>
              <a:t>Path</a:t>
            </a:r>
            <a:r>
              <a:rPr sz="4200" spc="-155" dirty="0">
                <a:latin typeface="Calibri"/>
                <a:cs typeface="Calibri"/>
              </a:rPr>
              <a:t> </a:t>
            </a:r>
            <a:r>
              <a:rPr sz="4200" spc="-10" dirty="0">
                <a:latin typeface="Calibri"/>
                <a:cs typeface="Calibri"/>
              </a:rPr>
              <a:t>Algorithm</a:t>
            </a:r>
            <a:endParaRPr sz="4200" dirty="0">
              <a:latin typeface="Calibri"/>
              <a:cs typeface="Calibri"/>
            </a:endParaRPr>
          </a:p>
          <a:p>
            <a:pPr marL="393700" indent="-381000">
              <a:lnSpc>
                <a:spcPct val="100000"/>
              </a:lnSpc>
              <a:spcBef>
                <a:spcPts val="1110"/>
              </a:spcBef>
              <a:buChar char="•"/>
              <a:tabLst>
                <a:tab pos="393700" algn="l"/>
              </a:tabLst>
            </a:pPr>
            <a:r>
              <a:rPr sz="4200" dirty="0">
                <a:latin typeface="Calibri"/>
                <a:cs typeface="Calibri"/>
              </a:rPr>
              <a:t>Job</a:t>
            </a:r>
            <a:r>
              <a:rPr sz="4200" spc="-160" dirty="0">
                <a:latin typeface="Calibri"/>
                <a:cs typeface="Calibri"/>
              </a:rPr>
              <a:t> </a:t>
            </a:r>
            <a:r>
              <a:rPr sz="4200" spc="-45" dirty="0">
                <a:latin typeface="Calibri"/>
                <a:cs typeface="Calibri"/>
              </a:rPr>
              <a:t>Sequencing</a:t>
            </a:r>
            <a:r>
              <a:rPr sz="4200" spc="30" dirty="0">
                <a:latin typeface="Calibri"/>
                <a:cs typeface="Calibri"/>
              </a:rPr>
              <a:t> </a:t>
            </a:r>
            <a:r>
              <a:rPr sz="4200" dirty="0">
                <a:latin typeface="Calibri"/>
                <a:cs typeface="Calibri"/>
              </a:rPr>
              <a:t>With</a:t>
            </a:r>
            <a:r>
              <a:rPr sz="4200" spc="-190" dirty="0">
                <a:latin typeface="Calibri"/>
                <a:cs typeface="Calibri"/>
              </a:rPr>
              <a:t> </a:t>
            </a:r>
            <a:r>
              <a:rPr sz="4200" spc="-10" dirty="0">
                <a:latin typeface="Calibri"/>
                <a:cs typeface="Calibri"/>
              </a:rPr>
              <a:t>Deadline</a:t>
            </a:r>
            <a:endParaRPr sz="4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4196" y="1501775"/>
            <a:ext cx="18500725" cy="74599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76555" marR="6985" indent="-364490" algn="just">
              <a:lnSpc>
                <a:spcPts val="4840"/>
              </a:lnSpc>
              <a:spcBef>
                <a:spcPts val="725"/>
              </a:spcBef>
              <a:buChar char="•"/>
              <a:tabLst>
                <a:tab pos="376555" algn="l"/>
              </a:tabLst>
            </a:pPr>
            <a:r>
              <a:rPr sz="4500" dirty="0">
                <a:latin typeface="Times New Roman"/>
                <a:cs typeface="Times New Roman"/>
              </a:rPr>
              <a:t>Dynamic</a:t>
            </a:r>
            <a:r>
              <a:rPr sz="4500" spc="40" dirty="0">
                <a:latin typeface="Times New Roman"/>
                <a:cs typeface="Times New Roman"/>
              </a:rPr>
              <a:t>  </a:t>
            </a:r>
            <a:r>
              <a:rPr sz="4500" dirty="0">
                <a:latin typeface="Times New Roman"/>
                <a:cs typeface="Times New Roman"/>
              </a:rPr>
              <a:t>programming</a:t>
            </a:r>
            <a:r>
              <a:rPr sz="4500" spc="110" dirty="0">
                <a:latin typeface="Times New Roman"/>
                <a:cs typeface="Times New Roman"/>
              </a:rPr>
              <a:t> 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9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</a:t>
            </a:r>
            <a:r>
              <a:rPr sz="4500" spc="93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technique</a:t>
            </a:r>
            <a:r>
              <a:rPr sz="4500" spc="70" dirty="0">
                <a:latin typeface="Times New Roman"/>
                <a:cs typeface="Times New Roman"/>
              </a:rPr>
              <a:t>  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107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breaks</a:t>
            </a:r>
            <a:r>
              <a:rPr sz="4500" spc="10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10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problems</a:t>
            </a:r>
            <a:r>
              <a:rPr sz="4500" spc="95" dirty="0">
                <a:latin typeface="Times New Roman"/>
                <a:cs typeface="Times New Roman"/>
              </a:rPr>
              <a:t>  </a:t>
            </a:r>
            <a:r>
              <a:rPr sz="4500" dirty="0">
                <a:latin typeface="Times New Roman"/>
                <a:cs typeface="Times New Roman"/>
              </a:rPr>
              <a:t>into</a:t>
            </a:r>
            <a:r>
              <a:rPr sz="4500" spc="1050" dirty="0">
                <a:latin typeface="Times New Roman"/>
                <a:cs typeface="Times New Roman"/>
              </a:rPr>
              <a:t> </a:t>
            </a:r>
            <a:r>
              <a:rPr sz="4500" spc="-20" dirty="0">
                <a:latin typeface="Times New Roman"/>
                <a:cs typeface="Times New Roman"/>
              </a:rPr>
              <a:t>sub- </a:t>
            </a:r>
            <a:r>
              <a:rPr sz="4450" dirty="0">
                <a:latin typeface="Times New Roman"/>
                <a:cs typeface="Times New Roman"/>
              </a:rPr>
              <a:t>problems,</a:t>
            </a:r>
            <a:r>
              <a:rPr sz="4450" spc="65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and</a:t>
            </a:r>
            <a:r>
              <a:rPr sz="4450" spc="51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saves</a:t>
            </a:r>
            <a:r>
              <a:rPr sz="4450" spc="59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the</a:t>
            </a:r>
            <a:r>
              <a:rPr sz="4450" spc="47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result</a:t>
            </a:r>
            <a:r>
              <a:rPr sz="4450" spc="64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for</a:t>
            </a:r>
            <a:r>
              <a:rPr sz="4450" spc="4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future</a:t>
            </a:r>
            <a:r>
              <a:rPr sz="4450" spc="53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purposes</a:t>
            </a:r>
            <a:r>
              <a:rPr sz="4450" spc="64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so</a:t>
            </a:r>
            <a:r>
              <a:rPr sz="4450" spc="47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that</a:t>
            </a:r>
            <a:r>
              <a:rPr sz="4450" spc="51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we</a:t>
            </a:r>
            <a:r>
              <a:rPr sz="4450" spc="47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do</a:t>
            </a:r>
            <a:r>
              <a:rPr sz="4450" spc="49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not</a:t>
            </a:r>
            <a:r>
              <a:rPr sz="4450" spc="434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need</a:t>
            </a:r>
            <a:r>
              <a:rPr sz="4450" spc="565" dirty="0">
                <a:latin typeface="Times New Roman"/>
                <a:cs typeface="Times New Roman"/>
              </a:rPr>
              <a:t> </a:t>
            </a:r>
            <a:r>
              <a:rPr sz="4450" spc="-25" dirty="0">
                <a:latin typeface="Times New Roman"/>
                <a:cs typeface="Times New Roman"/>
              </a:rPr>
              <a:t>to </a:t>
            </a:r>
            <a:r>
              <a:rPr sz="4500" spc="-10" dirty="0">
                <a:latin typeface="Times New Roman"/>
                <a:cs typeface="Times New Roman"/>
              </a:rPr>
              <a:t>compute</a:t>
            </a:r>
            <a:r>
              <a:rPr sz="4500" spc="-1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2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result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again.</a:t>
            </a:r>
            <a:endParaRPr sz="4500">
              <a:latin typeface="Times New Roman"/>
              <a:cs typeface="Times New Roman"/>
            </a:endParaRPr>
          </a:p>
          <a:p>
            <a:pPr marL="378460" indent="-365760" algn="just">
              <a:lnSpc>
                <a:spcPts val="5150"/>
              </a:lnSpc>
              <a:spcBef>
                <a:spcPts val="980"/>
              </a:spcBef>
              <a:buChar char="•"/>
              <a:tabLst>
                <a:tab pos="378460" algn="l"/>
              </a:tabLst>
            </a:pP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4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subproblems</a:t>
            </a:r>
            <a:r>
              <a:rPr sz="4500" spc="61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are</a:t>
            </a:r>
            <a:r>
              <a:rPr sz="4500" spc="3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optimized</a:t>
            </a:r>
            <a:r>
              <a:rPr sz="4500" spc="5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to</a:t>
            </a:r>
            <a:r>
              <a:rPr sz="4500" spc="3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optimize</a:t>
            </a:r>
            <a:r>
              <a:rPr sz="4500" spc="47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3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overall</a:t>
            </a:r>
            <a:r>
              <a:rPr sz="4500" spc="4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solution</a:t>
            </a:r>
            <a:r>
              <a:rPr sz="4500" spc="63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2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known</a:t>
            </a:r>
            <a:r>
              <a:rPr sz="4500" spc="490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as</a:t>
            </a:r>
            <a:endParaRPr sz="4500">
              <a:latin typeface="Times New Roman"/>
              <a:cs typeface="Times New Roman"/>
            </a:endParaRPr>
          </a:p>
          <a:p>
            <a:pPr marL="377190" algn="just">
              <a:lnSpc>
                <a:spcPts val="5030"/>
              </a:lnSpc>
            </a:pPr>
            <a:r>
              <a:rPr sz="4400" dirty="0">
                <a:latin typeface="Times New Roman"/>
                <a:cs typeface="Times New Roman"/>
              </a:rPr>
              <a:t>optimal</a:t>
            </a:r>
            <a:r>
              <a:rPr sz="4400" spc="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substructure</a:t>
            </a:r>
            <a:r>
              <a:rPr sz="4400" spc="350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property.</a:t>
            </a:r>
            <a:endParaRPr sz="4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60"/>
              </a:spcBef>
            </a:pPr>
            <a:endParaRPr sz="44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sz="4500" dirty="0">
                <a:latin typeface="Times New Roman"/>
                <a:cs typeface="Times New Roman"/>
              </a:rPr>
              <a:t>RProblems</a:t>
            </a:r>
            <a:r>
              <a:rPr sz="4500" spc="1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-1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follow</a:t>
            </a:r>
            <a:r>
              <a:rPr sz="4500" spc="-135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dynamic</a:t>
            </a:r>
            <a:r>
              <a:rPr sz="4500" spc="-10" dirty="0">
                <a:latin typeface="Times New Roman"/>
                <a:cs typeface="Times New Roman"/>
              </a:rPr>
              <a:t> strategy:</a:t>
            </a:r>
            <a:endParaRPr sz="4500">
              <a:latin typeface="Times New Roman"/>
              <a:cs typeface="Times New Roman"/>
            </a:endParaRPr>
          </a:p>
          <a:p>
            <a:pPr marL="375285" indent="-362585">
              <a:lnSpc>
                <a:spcPct val="100000"/>
              </a:lnSpc>
              <a:spcBef>
                <a:spcPts val="1010"/>
              </a:spcBef>
              <a:buChar char="•"/>
              <a:tabLst>
                <a:tab pos="375285" algn="l"/>
              </a:tabLst>
            </a:pPr>
            <a:r>
              <a:rPr sz="4500" dirty="0">
                <a:latin typeface="Times New Roman"/>
                <a:cs typeface="Times New Roman"/>
              </a:rPr>
              <a:t>0/1</a:t>
            </a:r>
            <a:r>
              <a:rPr sz="4500" spc="-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Knapsack</a:t>
            </a:r>
            <a:endParaRPr sz="4500">
              <a:latin typeface="Times New Roman"/>
              <a:cs typeface="Times New Roman"/>
            </a:endParaRPr>
          </a:p>
          <a:p>
            <a:pPr marL="377190" indent="-364490">
              <a:lnSpc>
                <a:spcPct val="100000"/>
              </a:lnSpc>
              <a:spcBef>
                <a:spcPts val="1050"/>
              </a:spcBef>
              <a:buChar char="•"/>
              <a:tabLst>
                <a:tab pos="377190" algn="l"/>
              </a:tabLst>
            </a:pPr>
            <a:r>
              <a:rPr sz="4500" dirty="0">
                <a:latin typeface="Times New Roman"/>
                <a:cs typeface="Times New Roman"/>
              </a:rPr>
              <a:t>Matrix</a:t>
            </a:r>
            <a:r>
              <a:rPr sz="4500" spc="-1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Chain</a:t>
            </a:r>
            <a:r>
              <a:rPr sz="4500" spc="-204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Multiplication</a:t>
            </a:r>
            <a:endParaRPr sz="4500">
              <a:latin typeface="Times New Roman"/>
              <a:cs typeface="Times New Roman"/>
            </a:endParaRPr>
          </a:p>
          <a:p>
            <a:pPr marL="377190" indent="-364490">
              <a:lnSpc>
                <a:spcPct val="100000"/>
              </a:lnSpc>
              <a:spcBef>
                <a:spcPts val="1050"/>
              </a:spcBef>
              <a:buChar char="•"/>
              <a:tabLst>
                <a:tab pos="377190" algn="l"/>
              </a:tabLst>
            </a:pPr>
            <a:r>
              <a:rPr sz="4500" spc="-20" dirty="0">
                <a:latin typeface="Times New Roman"/>
                <a:cs typeface="Times New Roman"/>
              </a:rPr>
              <a:t>Multistage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Graph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EF647-C6E5-3C8F-B13D-E6D9952BAA9B}"/>
              </a:ext>
            </a:extLst>
          </p:cNvPr>
          <p:cNvSpPr/>
          <p:nvPr/>
        </p:nvSpPr>
        <p:spPr>
          <a:xfrm>
            <a:off x="533400" y="228600"/>
            <a:ext cx="75438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indent="-914400" algn="ctr">
              <a:buFont typeface="+mj-lt"/>
              <a:buAutoNum type="arabicPeriod"/>
            </a:pPr>
            <a:r>
              <a:rPr lang="en-US" sz="4800" b="1" dirty="0">
                <a:solidFill>
                  <a:schemeClr val="tx1"/>
                </a:solidFill>
              </a:rPr>
              <a:t>Dynamic Programming</a:t>
            </a:r>
            <a:endParaRPr lang="en-IN"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9950" y="6105525"/>
            <a:ext cx="3867150" cy="40481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4196" y="1501775"/>
            <a:ext cx="18498820" cy="80695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76555" marR="5080" indent="-364490" algn="just">
              <a:lnSpc>
                <a:spcPct val="90100"/>
              </a:lnSpc>
              <a:spcBef>
                <a:spcPts val="635"/>
              </a:spcBef>
              <a:buChar char="•"/>
              <a:tabLst>
                <a:tab pos="378460" algn="l"/>
              </a:tabLst>
            </a:pPr>
            <a:r>
              <a:rPr sz="4500" dirty="0">
                <a:latin typeface="Times New Roman"/>
                <a:cs typeface="Times New Roman"/>
              </a:rPr>
              <a:t>Backtracking</a:t>
            </a:r>
            <a:r>
              <a:rPr sz="4500" spc="819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56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</a:t>
            </a:r>
            <a:r>
              <a:rPr sz="4500" spc="5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algorithmic</a:t>
            </a:r>
            <a:r>
              <a:rPr sz="4500" spc="88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technique</a:t>
            </a:r>
            <a:r>
              <a:rPr sz="4500" spc="7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for</a:t>
            </a:r>
            <a:r>
              <a:rPr sz="4500" spc="5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solving</a:t>
            </a:r>
            <a:r>
              <a:rPr sz="4500" spc="71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problems</a:t>
            </a:r>
            <a:r>
              <a:rPr sz="4500" spc="80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by</a:t>
            </a:r>
            <a:r>
              <a:rPr sz="4500" spc="59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trying</a:t>
            </a:r>
            <a:r>
              <a:rPr sz="4500" spc="625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to 	</a:t>
            </a:r>
            <a:r>
              <a:rPr sz="4450" dirty="0">
                <a:latin typeface="Times New Roman"/>
                <a:cs typeface="Times New Roman"/>
              </a:rPr>
              <a:t>build</a:t>
            </a:r>
            <a:r>
              <a:rPr sz="4450" spc="53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</a:t>
            </a:r>
            <a:r>
              <a:rPr sz="4450" spc="37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solution</a:t>
            </a:r>
            <a:r>
              <a:rPr sz="4450" spc="6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incrementally,</a:t>
            </a:r>
            <a:r>
              <a:rPr sz="4450" spc="4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one</a:t>
            </a:r>
            <a:r>
              <a:rPr sz="4450" spc="50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piece</a:t>
            </a:r>
            <a:r>
              <a:rPr sz="4450" spc="56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at</a:t>
            </a:r>
            <a:r>
              <a:rPr sz="4450" spc="45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</a:t>
            </a:r>
            <a:r>
              <a:rPr sz="4450" spc="45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time,</a:t>
            </a:r>
            <a:r>
              <a:rPr sz="4450" spc="5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removing</a:t>
            </a:r>
            <a:r>
              <a:rPr sz="4450" spc="59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those</a:t>
            </a:r>
            <a:r>
              <a:rPr sz="4450" spc="535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solutions 	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-14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fail</a:t>
            </a:r>
            <a:r>
              <a:rPr sz="4500" spc="-18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to</a:t>
            </a:r>
            <a:r>
              <a:rPr sz="4500" spc="-1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satisfy</a:t>
            </a:r>
            <a:r>
              <a:rPr sz="4500" spc="-10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105" dirty="0">
                <a:latin typeface="Times New Roman"/>
                <a:cs typeface="Times New Roman"/>
              </a:rPr>
              <a:t> </a:t>
            </a:r>
            <a:r>
              <a:rPr sz="4500" spc="-35" dirty="0">
                <a:latin typeface="Times New Roman"/>
                <a:cs typeface="Times New Roman"/>
              </a:rPr>
              <a:t>constraints</a:t>
            </a:r>
            <a:r>
              <a:rPr sz="4500" spc="15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of</a:t>
            </a:r>
            <a:r>
              <a:rPr sz="4500" spc="-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the</a:t>
            </a:r>
            <a:r>
              <a:rPr sz="4500" spc="-105" dirty="0">
                <a:latin typeface="Times New Roman"/>
                <a:cs typeface="Times New Roman"/>
              </a:rPr>
              <a:t> </a:t>
            </a:r>
            <a:r>
              <a:rPr sz="4500" spc="-25" dirty="0">
                <a:latin typeface="Times New Roman"/>
                <a:cs typeface="Times New Roman"/>
              </a:rPr>
              <a:t>problem</a:t>
            </a:r>
            <a:r>
              <a:rPr sz="4500" spc="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at</a:t>
            </a:r>
            <a:r>
              <a:rPr sz="4500" spc="-16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any</a:t>
            </a:r>
            <a:r>
              <a:rPr sz="4500" spc="-6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point</a:t>
            </a:r>
            <a:endParaRPr sz="4500">
              <a:latin typeface="Times New Roman"/>
              <a:cs typeface="Times New Roman"/>
            </a:endParaRPr>
          </a:p>
          <a:p>
            <a:pPr marL="375920" marR="19685" indent="-363855" algn="just">
              <a:lnSpc>
                <a:spcPct val="90100"/>
              </a:lnSpc>
              <a:spcBef>
                <a:spcPts val="1585"/>
              </a:spcBef>
              <a:buChar char="•"/>
              <a:tabLst>
                <a:tab pos="375920" algn="l"/>
              </a:tabLst>
            </a:pPr>
            <a:r>
              <a:rPr sz="4500" dirty="0">
                <a:latin typeface="Times New Roman"/>
                <a:cs typeface="Times New Roman"/>
              </a:rPr>
              <a:t>Backtracking</a:t>
            </a:r>
            <a:r>
              <a:rPr sz="4500" spc="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is</a:t>
            </a:r>
            <a:r>
              <a:rPr sz="4500" spc="-22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not</a:t>
            </a:r>
            <a:r>
              <a:rPr sz="4500" spc="-13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used</a:t>
            </a:r>
            <a:r>
              <a:rPr sz="4500" spc="-19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for</a:t>
            </a:r>
            <a:r>
              <a:rPr sz="4500" spc="-20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optimization.</a:t>
            </a:r>
            <a:r>
              <a:rPr sz="4500" spc="14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Backtracking</a:t>
            </a:r>
            <a:r>
              <a:rPr sz="4500" spc="-50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basically</a:t>
            </a:r>
            <a:r>
              <a:rPr sz="4500" spc="-114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means</a:t>
            </a:r>
            <a:r>
              <a:rPr sz="4500" spc="-12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trying </a:t>
            </a:r>
            <a:r>
              <a:rPr sz="4450" dirty="0">
                <a:latin typeface="Times New Roman"/>
                <a:cs typeface="Times New Roman"/>
              </a:rPr>
              <a:t>all</a:t>
            </a:r>
            <a:r>
              <a:rPr sz="4450" spc="22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possible</a:t>
            </a:r>
            <a:r>
              <a:rPr sz="4450" spc="47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options.</a:t>
            </a:r>
            <a:r>
              <a:rPr sz="4450" spc="42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It</a:t>
            </a:r>
            <a:r>
              <a:rPr sz="4450" spc="24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is</a:t>
            </a:r>
            <a:r>
              <a:rPr sz="4450" spc="2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used</a:t>
            </a:r>
            <a:r>
              <a:rPr sz="4450" spc="36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when</a:t>
            </a:r>
            <a:r>
              <a:rPr sz="4450" spc="35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you</a:t>
            </a:r>
            <a:r>
              <a:rPr sz="4450" spc="29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have</a:t>
            </a:r>
            <a:r>
              <a:rPr sz="4450" spc="38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multiple</a:t>
            </a:r>
            <a:r>
              <a:rPr sz="4450" spc="44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solution</a:t>
            </a:r>
            <a:r>
              <a:rPr sz="4450" spc="395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and</a:t>
            </a:r>
            <a:r>
              <a:rPr sz="4450" spc="350" dirty="0">
                <a:latin typeface="Times New Roman"/>
                <a:cs typeface="Times New Roman"/>
              </a:rPr>
              <a:t> </a:t>
            </a:r>
            <a:r>
              <a:rPr sz="4450" dirty="0">
                <a:latin typeface="Times New Roman"/>
                <a:cs typeface="Times New Roman"/>
              </a:rPr>
              <a:t>you</a:t>
            </a:r>
            <a:r>
              <a:rPr sz="4450" spc="345" dirty="0">
                <a:latin typeface="Times New Roman"/>
                <a:cs typeface="Times New Roman"/>
              </a:rPr>
              <a:t> </a:t>
            </a:r>
            <a:r>
              <a:rPr sz="4450" spc="-20" dirty="0">
                <a:latin typeface="Times New Roman"/>
                <a:cs typeface="Times New Roman"/>
              </a:rPr>
              <a:t>want </a:t>
            </a:r>
            <a:r>
              <a:rPr sz="4500" dirty="0">
                <a:latin typeface="Times New Roman"/>
                <a:cs typeface="Times New Roman"/>
              </a:rPr>
              <a:t>all</a:t>
            </a:r>
            <a:r>
              <a:rPr sz="4500" spc="-17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those</a:t>
            </a:r>
            <a:r>
              <a:rPr sz="4500" spc="-8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solutions.</a:t>
            </a:r>
            <a:endParaRPr sz="4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85"/>
              </a:spcBef>
              <a:buFont typeface="Times New Roman"/>
              <a:buChar char="•"/>
            </a:pPr>
            <a:endParaRPr sz="450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4500" spc="60" dirty="0">
                <a:latin typeface="Times New Roman"/>
                <a:cs typeface="Times New Roman"/>
              </a:rPr>
              <a:t>SProblems</a:t>
            </a:r>
            <a:r>
              <a:rPr sz="4500" spc="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that</a:t>
            </a:r>
            <a:r>
              <a:rPr sz="4500" spc="-125" dirty="0">
                <a:latin typeface="Times New Roman"/>
                <a:cs typeface="Times New Roman"/>
              </a:rPr>
              <a:t> </a:t>
            </a:r>
            <a:r>
              <a:rPr sz="4500" dirty="0">
                <a:latin typeface="Times New Roman"/>
                <a:cs typeface="Times New Roman"/>
              </a:rPr>
              <a:t>follow</a:t>
            </a:r>
            <a:r>
              <a:rPr sz="4500" spc="-70" dirty="0">
                <a:latin typeface="Times New Roman"/>
                <a:cs typeface="Times New Roman"/>
              </a:rPr>
              <a:t> </a:t>
            </a:r>
            <a:r>
              <a:rPr sz="4500" spc="-35" dirty="0">
                <a:latin typeface="Times New Roman"/>
                <a:cs typeface="Times New Roman"/>
              </a:rPr>
              <a:t>backtracking</a:t>
            </a:r>
            <a:r>
              <a:rPr sz="4500" spc="195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strategy:</a:t>
            </a:r>
            <a:endParaRPr sz="4500">
              <a:latin typeface="Times New Roman"/>
              <a:cs typeface="Times New Roman"/>
            </a:endParaRPr>
          </a:p>
          <a:p>
            <a:pPr marL="374650" indent="-361950">
              <a:lnSpc>
                <a:spcPct val="100000"/>
              </a:lnSpc>
              <a:spcBef>
                <a:spcPts val="1100"/>
              </a:spcBef>
              <a:buChar char="•"/>
              <a:tabLst>
                <a:tab pos="374650" algn="l"/>
              </a:tabLst>
            </a:pPr>
            <a:r>
              <a:rPr sz="4450" spc="-85" dirty="0">
                <a:latin typeface="Times New Roman"/>
                <a:cs typeface="Times New Roman"/>
              </a:rPr>
              <a:t>N-</a:t>
            </a:r>
            <a:r>
              <a:rPr sz="4450" dirty="0">
                <a:latin typeface="Times New Roman"/>
                <a:cs typeface="Times New Roman"/>
              </a:rPr>
              <a:t>Queen’s</a:t>
            </a:r>
            <a:r>
              <a:rPr sz="4450" spc="-135" dirty="0">
                <a:latin typeface="Times New Roman"/>
                <a:cs typeface="Times New Roman"/>
              </a:rPr>
              <a:t> </a:t>
            </a:r>
            <a:r>
              <a:rPr sz="4450" spc="-10" dirty="0">
                <a:latin typeface="Times New Roman"/>
                <a:cs typeface="Times New Roman"/>
              </a:rPr>
              <a:t>Problems</a:t>
            </a:r>
            <a:endParaRPr sz="4450">
              <a:latin typeface="Times New Roman"/>
              <a:cs typeface="Times New Roman"/>
            </a:endParaRPr>
          </a:p>
          <a:p>
            <a:pPr marL="375920" indent="-362585">
              <a:lnSpc>
                <a:spcPct val="100000"/>
              </a:lnSpc>
              <a:spcBef>
                <a:spcPts val="1125"/>
              </a:spcBef>
              <a:buChar char="•"/>
              <a:tabLst>
                <a:tab pos="375920" algn="l"/>
              </a:tabLst>
            </a:pPr>
            <a:r>
              <a:rPr sz="4400" dirty="0">
                <a:latin typeface="Times New Roman"/>
                <a:cs typeface="Times New Roman"/>
              </a:rPr>
              <a:t>Graph</a:t>
            </a:r>
            <a:r>
              <a:rPr sz="4400" spc="27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Colouring</a:t>
            </a:r>
            <a:endParaRPr sz="4400">
              <a:latin typeface="Times New Roman"/>
              <a:cs typeface="Times New Roman"/>
            </a:endParaRPr>
          </a:p>
          <a:p>
            <a:pPr marL="376555" indent="-363855">
              <a:lnSpc>
                <a:spcPct val="100000"/>
              </a:lnSpc>
              <a:spcBef>
                <a:spcPts val="1030"/>
              </a:spcBef>
              <a:buChar char="•"/>
              <a:tabLst>
                <a:tab pos="376555" algn="l"/>
              </a:tabLst>
            </a:pPr>
            <a:r>
              <a:rPr sz="4500" spc="-25" dirty="0">
                <a:latin typeface="Times New Roman"/>
                <a:cs typeface="Times New Roman"/>
              </a:rPr>
              <a:t>Hamiltonian</a:t>
            </a:r>
            <a:r>
              <a:rPr sz="4500" spc="-110" dirty="0">
                <a:latin typeface="Times New Roman"/>
                <a:cs typeface="Times New Roman"/>
              </a:rPr>
              <a:t> </a:t>
            </a:r>
            <a:r>
              <a:rPr sz="4500" spc="-10" dirty="0">
                <a:latin typeface="Times New Roman"/>
                <a:cs typeface="Times New Roman"/>
              </a:rPr>
              <a:t>Cycle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B2ACE-D857-636E-1292-0B19B6AA7484}"/>
              </a:ext>
            </a:extLst>
          </p:cNvPr>
          <p:cNvSpPr/>
          <p:nvPr/>
        </p:nvSpPr>
        <p:spPr>
          <a:xfrm>
            <a:off x="228600" y="304800"/>
            <a:ext cx="6096000" cy="1096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0" indent="-1143000" algn="ctr">
              <a:buFont typeface="+mj-lt"/>
              <a:buAutoNum type="arabicPeriod"/>
            </a:pPr>
            <a:r>
              <a:rPr lang="en-US" sz="6600" b="1" dirty="0">
                <a:solidFill>
                  <a:schemeClr val="tx1"/>
                </a:solidFill>
              </a:rPr>
              <a:t>Backtracking</a:t>
            </a:r>
            <a:endParaRPr lang="en-IN" sz="6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2286000"/>
            <a:ext cx="11125200" cy="647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919</Words>
  <Application>Microsoft Office PowerPoint</Application>
  <PresentationFormat>Custom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Times New Roman</vt:lpstr>
      <vt:lpstr>Office Theme</vt:lpstr>
      <vt:lpstr>uc ion esi</vt:lpstr>
      <vt:lpstr>PowerPoint Presentation</vt:lpstr>
      <vt:lpstr>on en</vt:lpstr>
      <vt:lpstr>Terminologies:</vt:lpstr>
      <vt:lpstr>ourse</vt:lpstr>
      <vt:lpstr>eie on</vt:lpstr>
      <vt:lpstr>PowerPoint Presentation</vt:lpstr>
      <vt:lpstr>er ies an a m:</vt:lpstr>
      <vt:lpstr>Two main tasks in the study</vt:lpstr>
      <vt:lpstr>ow o ana ze e a</vt:lpstr>
      <vt:lpstr>ie ions:</vt:lpstr>
      <vt:lpstr>esi ies:</vt:lpstr>
      <vt:lpstr>on uer trate</vt:lpstr>
      <vt:lpstr>ree ra‹e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Rustam Ali</cp:lastModifiedBy>
  <cp:revision>1</cp:revision>
  <dcterms:created xsi:type="dcterms:W3CDTF">2025-11-24T12:33:54Z</dcterms:created>
  <dcterms:modified xsi:type="dcterms:W3CDTF">2025-12-03T19:09:33Z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LastSaved">
    <vt:filetime>2025-11-24T00:00:00Z</vt:filetime>
  </property>
</Properties>
</file>